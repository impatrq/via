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83" r:id="rId6"/>
    <p:sldId id="260" r:id="rId7"/>
    <p:sldId id="262" r:id="rId8"/>
    <p:sldId id="264" r:id="rId9"/>
    <p:sldId id="265" r:id="rId10"/>
    <p:sldId id="266" r:id="rId11"/>
    <p:sldId id="267" r:id="rId12"/>
    <p:sldId id="284" r:id="rId13"/>
    <p:sldId id="268" r:id="rId14"/>
    <p:sldId id="269" r:id="rId15"/>
    <p:sldId id="281" r:id="rId16"/>
    <p:sldId id="282" r:id="rId17"/>
    <p:sldId id="280" r:id="rId18"/>
    <p:sldId id="285" r:id="rId19"/>
    <p:sldId id="286" r:id="rId20"/>
    <p:sldId id="271" r:id="rId21"/>
    <p:sldId id="272" r:id="rId22"/>
    <p:sldId id="273" r:id="rId23"/>
    <p:sldId id="274" r:id="rId24"/>
    <p:sldId id="275" r:id="rId25"/>
    <p:sldId id="279" r:id="rId26"/>
  </p:sldIdLst>
  <p:sldSz cx="18288000" cy="10287000"/>
  <p:notesSz cx="6858000" cy="9144000"/>
  <p:embeddedFontLst>
    <p:embeddedFont>
      <p:font typeface="Montserrat" panose="00000500000000000000" pitchFamily="2" charset="0"/>
      <p:regular r:id="rId27"/>
      <p:bold r:id="rId28"/>
      <p:italic r:id="rId29"/>
      <p:boldItalic r:id="rId30"/>
    </p:embeddedFont>
    <p:embeddedFont>
      <p:font typeface="Montserrat Bold" panose="00000800000000000000" charset="0"/>
      <p:regular r:id="rId31"/>
    </p:embeddedFont>
    <p:embeddedFont>
      <p:font typeface="Montserrat Semi-Bold" panose="020B0604020202020204" charset="0"/>
      <p:regular r:id="rId32"/>
    </p:embeddedFont>
    <p:embeddedFont>
      <p:font typeface="Open Sans" panose="020B0606030504020204" pitchFamily="34" charset="0"/>
      <p:regular r:id="rId33"/>
      <p:bold r:id="rId34"/>
      <p:italic r:id="rId35"/>
      <p:boldItalic r:id="rId36"/>
    </p:embeddedFont>
    <p:embeddedFont>
      <p:font typeface="Open Sans Bold" panose="020B0806030504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D7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114300"/>
            <a:ext cx="2706515" cy="10172700"/>
            <a:chOff x="0" y="0"/>
            <a:chExt cx="812800" cy="2709333"/>
          </a:xfrm>
          <a:solidFill>
            <a:srgbClr val="D7D72F"/>
          </a:solidFill>
        </p:grpSpPr>
        <p:sp>
          <p:nvSpPr>
            <p:cNvPr id="3" name="Freeform 3"/>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grpFill/>
          </p:spPr>
          <p:txBody>
            <a:bodyPr/>
            <a:lstStyle/>
            <a:p>
              <a:endParaRPr lang="es-AR" noProof="0" dirty="0"/>
            </a:p>
          </p:txBody>
        </p:sp>
        <p:sp>
          <p:nvSpPr>
            <p:cNvPr id="4" name="TextBox 4"/>
            <p:cNvSpPr txBox="1"/>
            <p:nvPr/>
          </p:nvSpPr>
          <p:spPr>
            <a:xfrm>
              <a:off x="0" y="-38100"/>
              <a:ext cx="812800" cy="2747433"/>
            </a:xfrm>
            <a:prstGeom prst="rect">
              <a:avLst/>
            </a:prstGeom>
            <a:grpFill/>
          </p:spPr>
          <p:txBody>
            <a:bodyPr lIns="50800" tIns="50800" rIns="50800" bIns="50800" rtlCol="0" anchor="ctr"/>
            <a:lstStyle/>
            <a:p>
              <a:pPr algn="ctr">
                <a:lnSpc>
                  <a:spcPts val="2659"/>
                </a:lnSpc>
              </a:pPr>
              <a:endParaRPr lang="es-AR" noProof="0" dirty="0"/>
            </a:p>
          </p:txBody>
        </p:sp>
      </p:grpSp>
      <p:sp>
        <p:nvSpPr>
          <p:cNvPr id="5" name="Freeform 5"/>
          <p:cNvSpPr/>
          <p:nvPr/>
        </p:nvSpPr>
        <p:spPr>
          <a:xfrm>
            <a:off x="12451474" y="-22657"/>
            <a:ext cx="5793840" cy="5644962"/>
          </a:xfrm>
          <a:custGeom>
            <a:avLst/>
            <a:gdLst/>
            <a:ahLst/>
            <a:cxnLst/>
            <a:rect l="l" t="t" r="r" b="b"/>
            <a:pathLst>
              <a:path w="5793840" h="5644962">
                <a:moveTo>
                  <a:pt x="0" y="0"/>
                </a:moveTo>
                <a:lnTo>
                  <a:pt x="5793840" y="0"/>
                </a:lnTo>
                <a:lnTo>
                  <a:pt x="5793840" y="5644962"/>
                </a:lnTo>
                <a:lnTo>
                  <a:pt x="0" y="5644962"/>
                </a:lnTo>
                <a:lnTo>
                  <a:pt x="0" y="0"/>
                </a:lnTo>
                <a:close/>
              </a:path>
            </a:pathLst>
          </a:custGeom>
          <a:blipFill>
            <a:blip r:embed="rId2"/>
            <a:stretch>
              <a:fillRect/>
            </a:stretch>
          </a:blipFill>
        </p:spPr>
        <p:txBody>
          <a:bodyPr/>
          <a:lstStyle/>
          <a:p>
            <a:endParaRPr lang="es-AR" noProof="0" dirty="0"/>
          </a:p>
        </p:txBody>
      </p:sp>
      <p:sp>
        <p:nvSpPr>
          <p:cNvPr id="6" name="TextBox 6"/>
          <p:cNvSpPr txBox="1"/>
          <p:nvPr/>
        </p:nvSpPr>
        <p:spPr>
          <a:xfrm>
            <a:off x="3436034" y="2712670"/>
            <a:ext cx="11415932" cy="1423467"/>
          </a:xfrm>
          <a:prstGeom prst="rect">
            <a:avLst/>
          </a:prstGeom>
        </p:spPr>
        <p:txBody>
          <a:bodyPr lIns="0" tIns="0" rIns="0" bIns="0" rtlCol="0" anchor="t">
            <a:spAutoFit/>
          </a:bodyPr>
          <a:lstStyle/>
          <a:p>
            <a:pPr algn="l">
              <a:lnSpc>
                <a:spcPts val="6272"/>
              </a:lnSpc>
            </a:pPr>
            <a:r>
              <a:rPr lang="es-AR" sz="5600" b="1" spc="1657" noProof="0" dirty="0">
                <a:solidFill>
                  <a:srgbClr val="1C1E1C"/>
                </a:solidFill>
                <a:latin typeface="Open Sans" panose="020B0606030504020204" pitchFamily="34" charset="0"/>
                <a:ea typeface="Open Sans" panose="020B0606030504020204" pitchFamily="34" charset="0"/>
                <a:cs typeface="Open Sans" panose="020B0606030504020204" pitchFamily="34" charset="0"/>
                <a:sym typeface="Montserrat Semi-Bold"/>
              </a:rPr>
              <a:t>PROYECTO VIA</a:t>
            </a:r>
          </a:p>
          <a:p>
            <a:pPr marL="0" lvl="0" indent="0" algn="l">
              <a:lnSpc>
                <a:spcPts val="4816"/>
              </a:lnSpc>
              <a:spcBef>
                <a:spcPct val="0"/>
              </a:spcBef>
            </a:pPr>
            <a:r>
              <a:rPr lang="es-AR" sz="4300" b="1" spc="1272" noProof="0" dirty="0">
                <a:solidFill>
                  <a:srgbClr val="1C1E1C"/>
                </a:solidFill>
                <a:latin typeface="Open Sans" panose="020B0606030504020204" pitchFamily="34" charset="0"/>
                <a:ea typeface="Open Sans" panose="020B0606030504020204" pitchFamily="34" charset="0"/>
                <a:cs typeface="Open Sans" panose="020B0606030504020204" pitchFamily="34" charset="0"/>
                <a:sym typeface="Montserrat Semi-Bold"/>
              </a:rPr>
              <a:t>7° 2° AVIONICA</a:t>
            </a:r>
          </a:p>
        </p:txBody>
      </p:sp>
      <p:sp>
        <p:nvSpPr>
          <p:cNvPr id="7" name="TextBox 7"/>
          <p:cNvSpPr txBox="1"/>
          <p:nvPr/>
        </p:nvSpPr>
        <p:spPr>
          <a:xfrm>
            <a:off x="3436034" y="6172339"/>
            <a:ext cx="11561661" cy="539277"/>
          </a:xfrm>
          <a:prstGeom prst="rect">
            <a:avLst/>
          </a:prstGeom>
        </p:spPr>
        <p:txBody>
          <a:bodyPr lIns="0" tIns="0" rIns="0" bIns="0" rtlCol="0" anchor="t">
            <a:spAutoFit/>
          </a:bodyPr>
          <a:lstStyle/>
          <a:p>
            <a:pPr algn="l">
              <a:lnSpc>
                <a:spcPts val="4401"/>
              </a:lnSpc>
            </a:pPr>
            <a:r>
              <a:rPr lang="es-AR" sz="3143" u="sng" spc="540"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Montserrat"/>
              </a:rPr>
              <a:t>Trabajo FINAL </a:t>
            </a:r>
          </a:p>
        </p:txBody>
      </p:sp>
      <p:sp>
        <p:nvSpPr>
          <p:cNvPr id="8" name="TextBox 8"/>
          <p:cNvSpPr txBox="1"/>
          <p:nvPr/>
        </p:nvSpPr>
        <p:spPr>
          <a:xfrm>
            <a:off x="3436034" y="7111458"/>
            <a:ext cx="12641879" cy="967105"/>
          </a:xfrm>
          <a:prstGeom prst="rect">
            <a:avLst/>
          </a:prstGeom>
        </p:spPr>
        <p:txBody>
          <a:bodyPr lIns="0" tIns="0" rIns="0" bIns="0" rtlCol="0" anchor="t">
            <a:spAutoFit/>
          </a:bodyPr>
          <a:lstStyle/>
          <a:p>
            <a:pPr algn="l">
              <a:lnSpc>
                <a:spcPts val="3919"/>
              </a:lnSpc>
            </a:pPr>
            <a:r>
              <a:rPr lang="es-AR" sz="2799" b="1" spc="481"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Montserrat Semi-Bold"/>
              </a:rPr>
              <a:t>GRANATA, Joaquin - RADAKOFF, Milovan - PAZ, Bautista - CARAM, Matías - RAMIREZ, Selene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1253731" y="1157289"/>
            <a:ext cx="12785919" cy="7972422"/>
            <a:chOff x="0" y="0"/>
            <a:chExt cx="3367485" cy="2099733"/>
          </a:xfrm>
        </p:grpSpPr>
        <p:sp>
          <p:nvSpPr>
            <p:cNvPr id="6" name="Freeform 6"/>
            <p:cNvSpPr/>
            <p:nvPr/>
          </p:nvSpPr>
          <p:spPr>
            <a:xfrm>
              <a:off x="0" y="0"/>
              <a:ext cx="3367485" cy="2099733"/>
            </a:xfrm>
            <a:custGeom>
              <a:avLst/>
              <a:gdLst/>
              <a:ahLst/>
              <a:cxnLst/>
              <a:rect l="l" t="t" r="r" b="b"/>
              <a:pathLst>
                <a:path w="3367485" h="2099733">
                  <a:moveTo>
                    <a:pt x="0" y="0"/>
                  </a:moveTo>
                  <a:lnTo>
                    <a:pt x="3367485" y="0"/>
                  </a:lnTo>
                  <a:lnTo>
                    <a:pt x="3367485" y="2099733"/>
                  </a:lnTo>
                  <a:lnTo>
                    <a:pt x="0" y="2099733"/>
                  </a:lnTo>
                  <a:close/>
                </a:path>
              </a:pathLst>
            </a:custGeom>
            <a:solidFill>
              <a:srgbClr val="000000">
                <a:alpha val="0"/>
              </a:srgbClr>
            </a:solidFill>
            <a:ln w="133350" cap="sq">
              <a:solidFill>
                <a:srgbClr val="FEFE04"/>
              </a:solidFill>
              <a:prstDash val="solid"/>
              <a:miter/>
            </a:ln>
          </p:spPr>
          <p:txBody>
            <a:bodyPr/>
            <a:lstStyle/>
            <a:p>
              <a:endParaRPr lang="es-AR" noProof="0" dirty="0"/>
            </a:p>
          </p:txBody>
        </p:sp>
        <p:sp>
          <p:nvSpPr>
            <p:cNvPr id="7" name="TextBox 7"/>
            <p:cNvSpPr txBox="1"/>
            <p:nvPr/>
          </p:nvSpPr>
          <p:spPr>
            <a:xfrm>
              <a:off x="0" y="-38100"/>
              <a:ext cx="3367485" cy="2137833"/>
            </a:xfrm>
            <a:prstGeom prst="rect">
              <a:avLst/>
            </a:prstGeom>
          </p:spPr>
          <p:txBody>
            <a:bodyPr lIns="50800" tIns="50800" rIns="50800" bIns="50800" rtlCol="0" anchor="ctr"/>
            <a:lstStyle/>
            <a:p>
              <a:pPr algn="ctr">
                <a:lnSpc>
                  <a:spcPts val="2659"/>
                </a:lnSpc>
              </a:pPr>
              <a:endParaRPr lang="es-AR" noProof="0" dirty="0"/>
            </a:p>
          </p:txBody>
        </p:sp>
      </p:grpSp>
      <p:grpSp>
        <p:nvGrpSpPr>
          <p:cNvPr id="2" name="Group 2"/>
          <p:cNvGrpSpPr/>
          <p:nvPr/>
        </p:nvGrpSpPr>
        <p:grpSpPr>
          <a:xfrm>
            <a:off x="4495800" y="0"/>
            <a:ext cx="8740550" cy="10287000"/>
            <a:chOff x="0" y="0"/>
            <a:chExt cx="2155641" cy="2709333"/>
          </a:xfrm>
        </p:grpSpPr>
        <p:sp>
          <p:nvSpPr>
            <p:cNvPr id="3" name="Freeform 3"/>
            <p:cNvSpPr/>
            <p:nvPr/>
          </p:nvSpPr>
          <p:spPr>
            <a:xfrm>
              <a:off x="0" y="0"/>
              <a:ext cx="2155641" cy="2709333"/>
            </a:xfrm>
            <a:custGeom>
              <a:avLst/>
              <a:gdLst/>
              <a:ahLst/>
              <a:cxnLst/>
              <a:rect l="l" t="t" r="r" b="b"/>
              <a:pathLst>
                <a:path w="2155641" h="2709333">
                  <a:moveTo>
                    <a:pt x="0" y="0"/>
                  </a:moveTo>
                  <a:lnTo>
                    <a:pt x="2155641" y="0"/>
                  </a:lnTo>
                  <a:lnTo>
                    <a:pt x="2155641" y="2709333"/>
                  </a:lnTo>
                  <a:lnTo>
                    <a:pt x="0" y="2709333"/>
                  </a:lnTo>
                  <a:close/>
                </a:path>
              </a:pathLst>
            </a:custGeom>
            <a:solidFill>
              <a:srgbClr val="080808"/>
            </a:solidFill>
          </p:spPr>
          <p:txBody>
            <a:bodyPr/>
            <a:lstStyle/>
            <a:p>
              <a:endParaRPr lang="es-AR" noProof="0" dirty="0"/>
            </a:p>
          </p:txBody>
        </p:sp>
        <p:sp>
          <p:nvSpPr>
            <p:cNvPr id="4" name="TextBox 4"/>
            <p:cNvSpPr txBox="1"/>
            <p:nvPr/>
          </p:nvSpPr>
          <p:spPr>
            <a:xfrm>
              <a:off x="0" y="-38100"/>
              <a:ext cx="2155641" cy="2747433"/>
            </a:xfrm>
            <a:prstGeom prst="rect">
              <a:avLst/>
            </a:prstGeom>
          </p:spPr>
          <p:txBody>
            <a:bodyPr lIns="50800" tIns="50800" rIns="50800" bIns="50800" rtlCol="0" anchor="ctr"/>
            <a:lstStyle/>
            <a:p>
              <a:pPr algn="ctr">
                <a:lnSpc>
                  <a:spcPts val="2659"/>
                </a:lnSpc>
              </a:pPr>
              <a:endParaRPr lang="es-AR" noProof="0" dirty="0"/>
            </a:p>
          </p:txBody>
        </p:sp>
      </p:grpSp>
      <p:sp>
        <p:nvSpPr>
          <p:cNvPr id="8" name="TextBox 8"/>
          <p:cNvSpPr txBox="1"/>
          <p:nvPr/>
        </p:nvSpPr>
        <p:spPr>
          <a:xfrm>
            <a:off x="5377736" y="2715638"/>
            <a:ext cx="6976677" cy="645794"/>
          </a:xfrm>
          <a:prstGeom prst="rect">
            <a:avLst/>
          </a:prstGeom>
        </p:spPr>
        <p:txBody>
          <a:bodyPr lIns="0" tIns="0" rIns="0" bIns="0" rtlCol="0" anchor="t">
            <a:spAutoFit/>
          </a:bodyPr>
          <a:lstStyle/>
          <a:p>
            <a:pPr algn="ctr">
              <a:lnSpc>
                <a:spcPts val="5039"/>
              </a:lnSpc>
              <a:spcBef>
                <a:spcPct val="0"/>
              </a:spcBef>
            </a:pPr>
            <a:r>
              <a:rPr lang="es-AR" sz="4499" spc="1331" noProof="0" dirty="0">
                <a:solidFill>
                  <a:srgbClr val="FFFFFF"/>
                </a:solidFill>
                <a:latin typeface="Montserrat"/>
                <a:ea typeface="Montserrat"/>
                <a:cs typeface="Montserrat"/>
                <a:sym typeface="Montserrat"/>
              </a:rPr>
              <a:t>CONTENIDOS</a:t>
            </a:r>
          </a:p>
        </p:txBody>
      </p:sp>
      <p:sp>
        <p:nvSpPr>
          <p:cNvPr id="9" name="TextBox 9"/>
          <p:cNvSpPr txBox="1"/>
          <p:nvPr/>
        </p:nvSpPr>
        <p:spPr>
          <a:xfrm>
            <a:off x="5200735" y="3433762"/>
            <a:ext cx="8035615" cy="3913572"/>
          </a:xfrm>
          <a:prstGeom prst="rect">
            <a:avLst/>
          </a:prstGeom>
        </p:spPr>
        <p:txBody>
          <a:bodyPr lIns="0" tIns="0" rIns="0" bIns="0" rtlCol="0" anchor="t">
            <a:spAutoFit/>
          </a:bodyPr>
          <a:lstStyle/>
          <a:p>
            <a:pPr marL="539749" lvl="1" indent="-269875" algn="l">
              <a:lnSpc>
                <a:spcPts val="5249"/>
              </a:lnSpc>
              <a:buAutoNum type="arabicPeriod"/>
            </a:pPr>
            <a:r>
              <a:rPr lang="es-AR" sz="2499" b="1" spc="429" noProof="0"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Montserrat Semi-Bold"/>
              </a:rPr>
              <a:t>VIA y el pensamiento detrás.</a:t>
            </a:r>
          </a:p>
          <a:p>
            <a:pPr marL="539749" lvl="1" indent="-269875">
              <a:lnSpc>
                <a:spcPts val="5249"/>
              </a:lnSpc>
              <a:buFontTx/>
              <a:buAutoNum type="arabicPeriod"/>
            </a:pPr>
            <a:r>
              <a:rPr lang="es-AR" sz="2499" b="1" spc="429" noProof="0"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Montserrat Bold"/>
              </a:rPr>
              <a:t>Problemas abordados.</a:t>
            </a:r>
            <a:endParaRPr lang="es-AR" sz="2499" b="1" spc="429" noProof="0"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Montserrat Semi-Bold"/>
            </a:endParaRPr>
          </a:p>
          <a:p>
            <a:pPr marL="539749" lvl="1" indent="-269875">
              <a:lnSpc>
                <a:spcPts val="5249"/>
              </a:lnSpc>
              <a:buFontTx/>
              <a:buAutoNum type="arabicPeriod"/>
            </a:pPr>
            <a:r>
              <a:rPr lang="es-AR" sz="2499" b="1" spc="429" noProof="0"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Montserrat Semi-Bold"/>
              </a:rPr>
              <a:t>Problemas en el proceso.</a:t>
            </a:r>
          </a:p>
          <a:p>
            <a:pPr marL="539749" lvl="1" indent="-269875" algn="l">
              <a:lnSpc>
                <a:spcPts val="5249"/>
              </a:lnSpc>
              <a:buAutoNum type="arabicPeriod"/>
            </a:pPr>
            <a:r>
              <a:rPr lang="es-AR" sz="2499" b="1" spc="429" noProof="0"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Montserrat Bold"/>
              </a:rPr>
              <a:t>Sponsor (ASAC).</a:t>
            </a:r>
          </a:p>
          <a:p>
            <a:pPr marL="539749" lvl="1" indent="-269875" algn="l">
              <a:lnSpc>
                <a:spcPts val="5249"/>
              </a:lnSpc>
              <a:buAutoNum type="arabicPeriod"/>
            </a:pPr>
            <a:r>
              <a:rPr lang="es-AR" sz="2499" b="1" spc="429" noProof="0"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Montserrat Semi-Bold"/>
              </a:rPr>
              <a:t>Lentes.</a:t>
            </a:r>
          </a:p>
          <a:p>
            <a:pPr marL="539749" lvl="1" indent="-269875" algn="l">
              <a:lnSpc>
                <a:spcPts val="5249"/>
              </a:lnSpc>
              <a:buAutoNum type="arabicPeriod"/>
            </a:pPr>
            <a:r>
              <a:rPr lang="es-AR" sz="2499" b="1" spc="429" noProof="0"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Montserrat Semi-Bold"/>
              </a:rPr>
              <a:t>Cambios a futuro.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3762183"/>
            <a:ext cx="16230600" cy="2762634"/>
            <a:chOff x="0" y="0"/>
            <a:chExt cx="4274726" cy="727607"/>
          </a:xfrm>
        </p:grpSpPr>
        <p:sp>
          <p:nvSpPr>
            <p:cNvPr id="3" name="Freeform 3"/>
            <p:cNvSpPr/>
            <p:nvPr/>
          </p:nvSpPr>
          <p:spPr>
            <a:xfrm>
              <a:off x="0" y="0"/>
              <a:ext cx="4274726" cy="727607"/>
            </a:xfrm>
            <a:custGeom>
              <a:avLst/>
              <a:gdLst/>
              <a:ahLst/>
              <a:cxnLst/>
              <a:rect l="l" t="t" r="r" b="b"/>
              <a:pathLst>
                <a:path w="4274726" h="727607">
                  <a:moveTo>
                    <a:pt x="0" y="0"/>
                  </a:moveTo>
                  <a:lnTo>
                    <a:pt x="4274726" y="0"/>
                  </a:lnTo>
                  <a:lnTo>
                    <a:pt x="4274726" y="727607"/>
                  </a:lnTo>
                  <a:lnTo>
                    <a:pt x="0" y="727607"/>
                  </a:lnTo>
                  <a:close/>
                </a:path>
              </a:pathLst>
            </a:custGeom>
            <a:solidFill>
              <a:srgbClr val="D7D72F"/>
            </a:solidFill>
          </p:spPr>
          <p:txBody>
            <a:bodyPr/>
            <a:lstStyle/>
            <a:p>
              <a:endParaRPr lang="es-AR" noProof="0" dirty="0"/>
            </a:p>
          </p:txBody>
        </p:sp>
        <p:sp>
          <p:nvSpPr>
            <p:cNvPr id="4" name="TextBox 4"/>
            <p:cNvSpPr txBox="1"/>
            <p:nvPr/>
          </p:nvSpPr>
          <p:spPr>
            <a:xfrm>
              <a:off x="0" y="-38100"/>
              <a:ext cx="4274726" cy="765707"/>
            </a:xfrm>
            <a:prstGeom prst="rect">
              <a:avLst/>
            </a:prstGeom>
          </p:spPr>
          <p:txBody>
            <a:bodyPr lIns="50800" tIns="50800" rIns="50800" bIns="50800" rtlCol="0" anchor="ctr"/>
            <a:lstStyle/>
            <a:p>
              <a:pPr algn="ctr">
                <a:lnSpc>
                  <a:spcPts val="2659"/>
                </a:lnSpc>
              </a:pPr>
              <a:endParaRPr lang="es-AR" noProof="0" dirty="0"/>
            </a:p>
          </p:txBody>
        </p:sp>
      </p:grpSp>
      <p:sp>
        <p:nvSpPr>
          <p:cNvPr id="5" name="TextBox 5"/>
          <p:cNvSpPr txBox="1"/>
          <p:nvPr/>
        </p:nvSpPr>
        <p:spPr>
          <a:xfrm>
            <a:off x="3094166" y="3981096"/>
            <a:ext cx="12099668" cy="1283969"/>
          </a:xfrm>
          <a:prstGeom prst="rect">
            <a:avLst/>
          </a:prstGeom>
        </p:spPr>
        <p:txBody>
          <a:bodyPr lIns="0" tIns="0" rIns="0" bIns="0" rtlCol="0" anchor="t">
            <a:spAutoFit/>
          </a:bodyPr>
          <a:lstStyle/>
          <a:p>
            <a:pPr algn="ctr">
              <a:lnSpc>
                <a:spcPts val="5039"/>
              </a:lnSpc>
              <a:spcBef>
                <a:spcPct val="0"/>
              </a:spcBef>
            </a:pPr>
            <a:r>
              <a:rPr lang="es-AR" sz="4499" b="1" u="sng" spc="1331"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Montserrat Semi-Bold"/>
              </a:rPr>
              <a:t>VIA Y EL PENSAMIENTO DETRAS</a:t>
            </a:r>
          </a:p>
        </p:txBody>
      </p:sp>
      <p:sp>
        <p:nvSpPr>
          <p:cNvPr id="6" name="TextBox 6"/>
          <p:cNvSpPr txBox="1"/>
          <p:nvPr/>
        </p:nvSpPr>
        <p:spPr>
          <a:xfrm>
            <a:off x="3094166" y="7455831"/>
            <a:ext cx="12099668" cy="645794"/>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Semi-Bold"/>
                <a:ea typeface="Montserrat Semi-Bold"/>
                <a:cs typeface="Montserrat Semi-Bold"/>
                <a:sym typeface="Montserrat Semi-Bold"/>
              </a:rPr>
              <a:t>RAMIREZ, SELENE</a:t>
            </a:r>
          </a:p>
        </p:txBody>
      </p:sp>
      <p:sp>
        <p:nvSpPr>
          <p:cNvPr id="7" name="TextBox 7"/>
          <p:cNvSpPr txBox="1"/>
          <p:nvPr/>
        </p:nvSpPr>
        <p:spPr>
          <a:xfrm>
            <a:off x="1028700" y="5581569"/>
            <a:ext cx="16230600" cy="563499"/>
          </a:xfrm>
          <a:prstGeom prst="rect">
            <a:avLst/>
          </a:prstGeom>
        </p:spPr>
        <p:txBody>
          <a:bodyPr lIns="0" tIns="0" rIns="0" bIns="0" rtlCol="0" anchor="t">
            <a:spAutoFit/>
          </a:bodyPr>
          <a:lstStyle/>
          <a:p>
            <a:pPr algn="ctr">
              <a:lnSpc>
                <a:spcPts val="4367"/>
              </a:lnSpc>
              <a:spcBef>
                <a:spcPct val="0"/>
              </a:spcBef>
            </a:pPr>
            <a:r>
              <a:rPr lang="es-AR" sz="3899" b="1" spc="1154"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Montserrat Semi-Bold"/>
              </a:rPr>
              <a:t>¿QUE ES VIA?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26379" y="1729481"/>
            <a:ext cx="15035243" cy="6828038"/>
            <a:chOff x="0" y="0"/>
            <a:chExt cx="3959899" cy="1798331"/>
          </a:xfrm>
        </p:grpSpPr>
        <p:sp>
          <p:nvSpPr>
            <p:cNvPr id="3" name="Freeform 3"/>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4" name="TextBox 4"/>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5" name="TextBox 5"/>
          <p:cNvSpPr txBox="1"/>
          <p:nvPr/>
        </p:nvSpPr>
        <p:spPr>
          <a:xfrm>
            <a:off x="3446601" y="3836949"/>
            <a:ext cx="11394797" cy="692369"/>
          </a:xfrm>
          <a:prstGeom prst="rect">
            <a:avLst/>
          </a:prstGeom>
        </p:spPr>
        <p:txBody>
          <a:bodyPr lIns="0" tIns="0" rIns="0" bIns="0" rtlCol="0" anchor="t">
            <a:spAutoFit/>
          </a:bodyPr>
          <a:lstStyle/>
          <a:p>
            <a:pPr algn="ctr"/>
            <a:r>
              <a:rPr lang="es-AR" sz="4499" b="1" spc="1331"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Montserrat"/>
              </a:rPr>
              <a:t>¿QUE ES VIA? </a:t>
            </a:r>
          </a:p>
        </p:txBody>
      </p:sp>
      <p:sp>
        <p:nvSpPr>
          <p:cNvPr id="6" name="TextBox 6"/>
          <p:cNvSpPr txBox="1"/>
          <p:nvPr/>
        </p:nvSpPr>
        <p:spPr>
          <a:xfrm>
            <a:off x="3446601" y="5189576"/>
            <a:ext cx="11394797" cy="1346522"/>
          </a:xfrm>
          <a:prstGeom prst="rect">
            <a:avLst/>
          </a:prstGeom>
        </p:spPr>
        <p:txBody>
          <a:bodyPr lIns="0" tIns="0" rIns="0" bIns="0" rtlCol="0" anchor="t">
            <a:spAutoFit/>
          </a:bodyPr>
          <a:lstStyle/>
          <a:p>
            <a:pPr algn="ctr">
              <a:lnSpc>
                <a:spcPts val="3499"/>
              </a:lnSpc>
            </a:pPr>
            <a:r>
              <a:rPr lang="es-AR" sz="3200" noProof="0" dirty="0">
                <a:solidFill>
                  <a:srgbClr val="000000"/>
                </a:solidFill>
                <a:latin typeface="Open Sans"/>
                <a:ea typeface="Open Sans"/>
                <a:cs typeface="Open Sans"/>
                <a:sym typeface="Open Sans"/>
              </a:rPr>
              <a:t>VIA es un proyecto diseñado con el fin de ayudar a las personas con visión reducida para que estas se muevan con mayor seguridad por la calle.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B51FF-1C24-3341-AC37-559C6CFBC58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03BD949-38B0-981D-A48B-F821065C40AE}"/>
              </a:ext>
            </a:extLst>
          </p:cNvPr>
          <p:cNvGrpSpPr/>
          <p:nvPr/>
        </p:nvGrpSpPr>
        <p:grpSpPr>
          <a:xfrm>
            <a:off x="1" y="1729480"/>
            <a:ext cx="16661622" cy="8557519"/>
            <a:chOff x="0" y="0"/>
            <a:chExt cx="3959899" cy="1798331"/>
          </a:xfrm>
        </p:grpSpPr>
        <p:sp>
          <p:nvSpPr>
            <p:cNvPr id="3" name="Freeform 3">
              <a:extLst>
                <a:ext uri="{FF2B5EF4-FFF2-40B4-BE49-F238E27FC236}">
                  <a16:creationId xmlns:a16="http://schemas.microsoft.com/office/drawing/2014/main" id="{0058A46C-F85A-42B3-CDB2-893590A305F9}"/>
                </a:ext>
              </a:extLst>
            </p:cNvPr>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4" name="TextBox 4">
              <a:extLst>
                <a:ext uri="{FF2B5EF4-FFF2-40B4-BE49-F238E27FC236}">
                  <a16:creationId xmlns:a16="http://schemas.microsoft.com/office/drawing/2014/main" id="{D8F157D7-4A3F-4B20-26D4-88EDDF08E56C}"/>
                </a:ext>
              </a:extLst>
            </p:cNvPr>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5" name="TextBox 5">
            <a:extLst>
              <a:ext uri="{FF2B5EF4-FFF2-40B4-BE49-F238E27FC236}">
                <a16:creationId xmlns:a16="http://schemas.microsoft.com/office/drawing/2014/main" id="{6C33941A-539A-A5EB-F145-54474128B4CD}"/>
              </a:ext>
            </a:extLst>
          </p:cNvPr>
          <p:cNvSpPr txBox="1"/>
          <p:nvPr/>
        </p:nvSpPr>
        <p:spPr>
          <a:xfrm>
            <a:off x="-1219200" y="356427"/>
            <a:ext cx="11394797" cy="1282402"/>
          </a:xfrm>
          <a:prstGeom prst="rect">
            <a:avLst/>
          </a:prstGeom>
        </p:spPr>
        <p:txBody>
          <a:bodyPr lIns="0" tIns="0" rIns="0" bIns="0" rtlCol="0" anchor="t">
            <a:spAutoFit/>
          </a:bodyPr>
          <a:lstStyle/>
          <a:p>
            <a:pPr algn="ctr">
              <a:lnSpc>
                <a:spcPts val="5039"/>
              </a:lnSpc>
              <a:spcBef>
                <a:spcPct val="0"/>
              </a:spcBef>
            </a:pPr>
            <a:r>
              <a:rPr lang="es-AR" sz="4499" spc="1331" noProof="0" dirty="0">
                <a:solidFill>
                  <a:srgbClr val="000000"/>
                </a:solidFill>
                <a:latin typeface="Montserrat"/>
                <a:ea typeface="Montserrat"/>
                <a:cs typeface="Montserrat"/>
                <a:sym typeface="Montserrat"/>
              </a:rPr>
              <a:t>¿QUE ES CAPAZ DE HACER?</a:t>
            </a:r>
          </a:p>
        </p:txBody>
      </p:sp>
      <p:sp>
        <p:nvSpPr>
          <p:cNvPr id="6" name="TextBox 6">
            <a:extLst>
              <a:ext uri="{FF2B5EF4-FFF2-40B4-BE49-F238E27FC236}">
                <a16:creationId xmlns:a16="http://schemas.microsoft.com/office/drawing/2014/main" id="{5287F197-1940-2476-E707-B77DFFF5239D}"/>
              </a:ext>
            </a:extLst>
          </p:cNvPr>
          <p:cNvSpPr txBox="1"/>
          <p:nvPr/>
        </p:nvSpPr>
        <p:spPr>
          <a:xfrm>
            <a:off x="381000" y="2019300"/>
            <a:ext cx="13182600" cy="7225055"/>
          </a:xfrm>
          <a:prstGeom prst="rect">
            <a:avLst/>
          </a:prstGeom>
        </p:spPr>
        <p:txBody>
          <a:bodyPr wrap="square" lIns="0" tIns="0" rIns="0" bIns="0" rtlCol="0" anchor="t">
            <a:spAutoFit/>
          </a:bodyPr>
          <a:lstStyle/>
          <a:p>
            <a:pPr>
              <a:lnSpc>
                <a:spcPts val="3499"/>
              </a:lnSpc>
            </a:pPr>
            <a:r>
              <a:rPr lang="es-AR" sz="3200" b="1" u="sng" noProof="0" dirty="0">
                <a:solidFill>
                  <a:srgbClr val="000000"/>
                </a:solidFill>
                <a:latin typeface="Open Sans"/>
                <a:ea typeface="Open Sans"/>
                <a:cs typeface="Open Sans"/>
                <a:sym typeface="Open Sans"/>
              </a:rPr>
              <a:t>CAPTAR</a:t>
            </a:r>
            <a:endParaRPr lang="es-AR" sz="3200" noProof="0" dirty="0">
              <a:solidFill>
                <a:srgbClr val="000000"/>
              </a:solidFill>
              <a:latin typeface="Open Sans"/>
              <a:ea typeface="Open Sans"/>
              <a:cs typeface="Open Sans"/>
              <a:sym typeface="Open Sans"/>
            </a:endParaRPr>
          </a:p>
          <a:p>
            <a:pPr>
              <a:lnSpc>
                <a:spcPts val="3499"/>
              </a:lnSpc>
            </a:pPr>
            <a:endParaRPr lang="es-AR" sz="3200" noProof="0" dirty="0">
              <a:solidFill>
                <a:srgbClr val="000000"/>
              </a:solidFill>
              <a:latin typeface="Open Sans"/>
              <a:ea typeface="Open Sans"/>
              <a:cs typeface="Open Sans"/>
              <a:sym typeface="Open Sans"/>
            </a:endParaRPr>
          </a:p>
          <a:p>
            <a:pPr>
              <a:lnSpc>
                <a:spcPts val="3499"/>
              </a:lnSpc>
            </a:pPr>
            <a:r>
              <a:rPr lang="es-AR" sz="3200" noProof="0" dirty="0">
                <a:solidFill>
                  <a:srgbClr val="000000"/>
                </a:solidFill>
                <a:latin typeface="Open Sans"/>
                <a:ea typeface="Open Sans"/>
                <a:cs typeface="Open Sans"/>
                <a:sym typeface="Open Sans"/>
              </a:rPr>
              <a:t>VIA es capaz de ver el entorno frente al usuario, actuando como una visión de apoyo.</a:t>
            </a:r>
          </a:p>
          <a:p>
            <a:pPr>
              <a:lnSpc>
                <a:spcPts val="3499"/>
              </a:lnSpc>
            </a:pPr>
            <a:endParaRPr lang="es-AR" sz="3200" noProof="0" dirty="0">
              <a:solidFill>
                <a:srgbClr val="000000"/>
              </a:solidFill>
              <a:latin typeface="Open Sans"/>
              <a:ea typeface="Open Sans"/>
              <a:cs typeface="Open Sans"/>
              <a:sym typeface="Open Sans"/>
            </a:endParaRPr>
          </a:p>
          <a:p>
            <a:r>
              <a:rPr lang="es-AR" sz="3200" b="1" u="sng" noProof="0" dirty="0">
                <a:solidFill>
                  <a:srgbClr val="000000"/>
                </a:solidFill>
                <a:latin typeface="Open Sans"/>
                <a:ea typeface="Open Sans"/>
                <a:cs typeface="Open Sans"/>
                <a:sym typeface="Open Sans"/>
              </a:rPr>
              <a:t>DETECTAR</a:t>
            </a:r>
            <a:endParaRPr lang="es-AR" sz="3200"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a:lnSpc>
                <a:spcPts val="3499"/>
              </a:lnSpc>
            </a:pPr>
            <a:endParaRPr lang="es-AR" sz="3200" b="1" u="sng" noProof="0" dirty="0">
              <a:solidFill>
                <a:srgbClr val="000000"/>
              </a:solidFill>
              <a:latin typeface="Open Sans"/>
              <a:ea typeface="Open Sans"/>
              <a:cs typeface="Open Sans"/>
              <a:sym typeface="Open Sans"/>
            </a:endParaRPr>
          </a:p>
          <a:p>
            <a:pPr>
              <a:lnSpc>
                <a:spcPts val="3499"/>
              </a:lnSpc>
            </a:pPr>
            <a:r>
              <a:rPr lang="es-AR" sz="3200" noProof="0" dirty="0">
                <a:solidFill>
                  <a:srgbClr val="000000"/>
                </a:solidFill>
                <a:latin typeface="Open Sans"/>
                <a:ea typeface="Open Sans"/>
                <a:cs typeface="Open Sans"/>
                <a:sym typeface="Open Sans"/>
              </a:rPr>
              <a:t>Gracias al uso de una Inteligencia Artificial y modelos </a:t>
            </a:r>
            <a:r>
              <a:rPr lang="es-AR" sz="3200" noProof="0" dirty="0" err="1">
                <a:solidFill>
                  <a:srgbClr val="000000"/>
                </a:solidFill>
                <a:latin typeface="Open Sans"/>
                <a:ea typeface="Open Sans"/>
                <a:cs typeface="Open Sans"/>
                <a:sym typeface="Open Sans"/>
              </a:rPr>
              <a:t>pre-entrenados</a:t>
            </a:r>
            <a:r>
              <a:rPr lang="es-AR" sz="3200" noProof="0" dirty="0">
                <a:solidFill>
                  <a:srgbClr val="000000"/>
                </a:solidFill>
                <a:latin typeface="Open Sans"/>
                <a:ea typeface="Open Sans"/>
                <a:cs typeface="Open Sans"/>
                <a:sym typeface="Open Sans"/>
              </a:rPr>
              <a:t>, somos capaces de detectar posibles peligros o riesgos con el fin de evitarlos.</a:t>
            </a:r>
          </a:p>
          <a:p>
            <a:pPr>
              <a:lnSpc>
                <a:spcPts val="3499"/>
              </a:lnSpc>
            </a:pPr>
            <a:endParaRPr lang="es-AR" sz="3200" noProof="0" dirty="0">
              <a:solidFill>
                <a:srgbClr val="000000"/>
              </a:solidFill>
              <a:latin typeface="Open Sans"/>
              <a:ea typeface="Open Sans"/>
              <a:cs typeface="Open Sans"/>
              <a:sym typeface="Open Sans"/>
            </a:endParaRPr>
          </a:p>
          <a:p>
            <a:pPr>
              <a:lnSpc>
                <a:spcPts val="3499"/>
              </a:lnSpc>
            </a:pPr>
            <a:r>
              <a:rPr lang="es-AR" sz="3200" b="1" u="sng" noProof="0" dirty="0">
                <a:solidFill>
                  <a:srgbClr val="000000"/>
                </a:solidFill>
                <a:latin typeface="Open Sans"/>
                <a:ea typeface="Open Sans"/>
                <a:cs typeface="Open Sans"/>
                <a:sym typeface="Open Sans"/>
              </a:rPr>
              <a:t>INFORMAR</a:t>
            </a:r>
          </a:p>
          <a:p>
            <a:pPr>
              <a:lnSpc>
                <a:spcPts val="3499"/>
              </a:lnSpc>
            </a:pPr>
            <a:endParaRPr lang="es-AR" sz="3200" b="1" u="sng" noProof="0" dirty="0">
              <a:solidFill>
                <a:srgbClr val="000000"/>
              </a:solidFill>
              <a:latin typeface="Open Sans"/>
              <a:ea typeface="Open Sans"/>
              <a:cs typeface="Open Sans"/>
              <a:sym typeface="Open Sans"/>
            </a:endParaRPr>
          </a:p>
          <a:p>
            <a:pPr>
              <a:lnSpc>
                <a:spcPts val="3499"/>
              </a:lnSpc>
            </a:pPr>
            <a:r>
              <a:rPr lang="es-AR" sz="3200" noProof="0" dirty="0">
                <a:solidFill>
                  <a:srgbClr val="000000"/>
                </a:solidFill>
                <a:latin typeface="Open Sans"/>
                <a:ea typeface="Open Sans"/>
                <a:cs typeface="Open Sans"/>
                <a:sym typeface="Open Sans"/>
              </a:rPr>
              <a:t>Con una veloz y efectiva respuesta, buscamos avisar al usuario de los posibles peligros detectados para que este pueda evitarlos de manera segura</a:t>
            </a:r>
          </a:p>
        </p:txBody>
      </p:sp>
    </p:spTree>
    <p:extLst>
      <p:ext uri="{BB962C8B-B14F-4D97-AF65-F5344CB8AC3E}">
        <p14:creationId xmlns:p14="http://schemas.microsoft.com/office/powerpoint/2010/main" val="3174984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58567" y="1261517"/>
            <a:ext cx="16619419" cy="7308825"/>
            <a:chOff x="0" y="0"/>
            <a:chExt cx="4377131" cy="1924958"/>
          </a:xfrm>
        </p:grpSpPr>
        <p:sp>
          <p:nvSpPr>
            <p:cNvPr id="3" name="Freeform 3"/>
            <p:cNvSpPr/>
            <p:nvPr/>
          </p:nvSpPr>
          <p:spPr>
            <a:xfrm>
              <a:off x="0" y="0"/>
              <a:ext cx="4377131" cy="1924958"/>
            </a:xfrm>
            <a:custGeom>
              <a:avLst/>
              <a:gdLst/>
              <a:ahLst/>
              <a:cxnLst/>
              <a:rect l="l" t="t" r="r" b="b"/>
              <a:pathLst>
                <a:path w="4377131" h="1924958">
                  <a:moveTo>
                    <a:pt x="0" y="0"/>
                  </a:moveTo>
                  <a:lnTo>
                    <a:pt x="4377131" y="0"/>
                  </a:lnTo>
                  <a:lnTo>
                    <a:pt x="4377131" y="1924958"/>
                  </a:lnTo>
                  <a:lnTo>
                    <a:pt x="0" y="1924958"/>
                  </a:lnTo>
                  <a:close/>
                </a:path>
              </a:pathLst>
            </a:custGeom>
            <a:solidFill>
              <a:srgbClr val="000000">
                <a:alpha val="0"/>
              </a:srgbClr>
            </a:solidFill>
            <a:ln w="133350" cap="sq">
              <a:solidFill>
                <a:srgbClr val="D7D72F"/>
              </a:solidFill>
              <a:prstDash val="solid"/>
              <a:miter/>
            </a:ln>
          </p:spPr>
          <p:txBody>
            <a:bodyPr/>
            <a:lstStyle/>
            <a:p>
              <a:endParaRPr lang="es-AR" noProof="0" dirty="0"/>
            </a:p>
          </p:txBody>
        </p:sp>
        <p:sp>
          <p:nvSpPr>
            <p:cNvPr id="4" name="TextBox 4"/>
            <p:cNvSpPr txBox="1"/>
            <p:nvPr/>
          </p:nvSpPr>
          <p:spPr>
            <a:xfrm>
              <a:off x="0" y="-38100"/>
              <a:ext cx="4377131" cy="1963058"/>
            </a:xfrm>
            <a:prstGeom prst="rect">
              <a:avLst/>
            </a:prstGeom>
          </p:spPr>
          <p:txBody>
            <a:bodyPr lIns="50800" tIns="50800" rIns="50800" bIns="50800" rtlCol="0" anchor="ctr"/>
            <a:lstStyle/>
            <a:p>
              <a:pPr algn="ctr">
                <a:lnSpc>
                  <a:spcPts val="2659"/>
                </a:lnSpc>
              </a:pPr>
              <a:endParaRPr lang="es-AR" noProof="0" dirty="0"/>
            </a:p>
          </p:txBody>
        </p:sp>
      </p:grpSp>
      <p:grpSp>
        <p:nvGrpSpPr>
          <p:cNvPr id="5" name="Group 5"/>
          <p:cNvGrpSpPr/>
          <p:nvPr/>
        </p:nvGrpSpPr>
        <p:grpSpPr>
          <a:xfrm>
            <a:off x="1650654" y="1429579"/>
            <a:ext cx="15035243" cy="6828038"/>
            <a:chOff x="0" y="0"/>
            <a:chExt cx="3959899" cy="1798331"/>
          </a:xfrm>
        </p:grpSpPr>
        <p:sp>
          <p:nvSpPr>
            <p:cNvPr id="6" name="Freeform 6"/>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7" name="TextBox 7"/>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8" name="TextBox 8"/>
          <p:cNvSpPr txBox="1"/>
          <p:nvPr/>
        </p:nvSpPr>
        <p:spPr>
          <a:xfrm>
            <a:off x="2133600" y="1706486"/>
            <a:ext cx="10838889" cy="645794"/>
          </a:xfrm>
          <a:prstGeom prst="rect">
            <a:avLst/>
          </a:prstGeom>
        </p:spPr>
        <p:txBody>
          <a:bodyPr lIns="0" tIns="0" rIns="0" bIns="0" rtlCol="0" anchor="t">
            <a:spAutoFit/>
          </a:bodyPr>
          <a:lstStyle/>
          <a:p>
            <a:pPr algn="l">
              <a:lnSpc>
                <a:spcPts val="5039"/>
              </a:lnSpc>
              <a:spcBef>
                <a:spcPct val="0"/>
              </a:spcBef>
            </a:pPr>
            <a:r>
              <a:rPr lang="es-AR" sz="4499" spc="1331" noProof="0" dirty="0">
                <a:solidFill>
                  <a:srgbClr val="000000"/>
                </a:solidFill>
                <a:latin typeface="Montserrat"/>
                <a:ea typeface="Montserrat"/>
                <a:cs typeface="Montserrat"/>
                <a:sym typeface="Montserrat"/>
              </a:rPr>
              <a:t>¿PORQUE VIA?</a:t>
            </a:r>
          </a:p>
        </p:txBody>
      </p:sp>
      <p:sp>
        <p:nvSpPr>
          <p:cNvPr id="9" name="TextBox 9"/>
          <p:cNvSpPr txBox="1"/>
          <p:nvPr/>
        </p:nvSpPr>
        <p:spPr>
          <a:xfrm>
            <a:off x="2514600" y="3204507"/>
            <a:ext cx="13868400" cy="4431983"/>
          </a:xfrm>
          <a:prstGeom prst="rect">
            <a:avLst/>
          </a:prstGeom>
        </p:spPr>
        <p:txBody>
          <a:bodyPr wrap="square" lIns="0" tIns="0" rIns="0" bIns="0" rtlCol="0" anchor="t">
            <a:spAutoFit/>
          </a:bodyPr>
          <a:lstStyle/>
          <a:p>
            <a:r>
              <a:rPr lang="es-AR" sz="3200" noProof="0" dirty="0">
                <a:latin typeface="Open Sans" panose="020B0606030504020204" pitchFamily="34" charset="0"/>
                <a:ea typeface="Open Sans" panose="020B0606030504020204" pitchFamily="34" charset="0"/>
                <a:cs typeface="Open Sans" panose="020B0606030504020204" pitchFamily="34" charset="0"/>
              </a:rPr>
              <a:t>Creamos </a:t>
            </a:r>
            <a:r>
              <a:rPr lang="es-AR" sz="3200" b="1" noProof="0" dirty="0">
                <a:latin typeface="Open Sans" panose="020B0606030504020204" pitchFamily="34" charset="0"/>
                <a:ea typeface="Open Sans" panose="020B0606030504020204" pitchFamily="34" charset="0"/>
                <a:cs typeface="Open Sans" panose="020B0606030504020204" pitchFamily="34" charset="0"/>
              </a:rPr>
              <a:t>VIA</a:t>
            </a:r>
            <a:r>
              <a:rPr lang="es-AR" sz="3200" noProof="0" dirty="0">
                <a:latin typeface="Open Sans" panose="020B0606030504020204" pitchFamily="34" charset="0"/>
                <a:ea typeface="Open Sans" panose="020B0606030504020204" pitchFamily="34" charset="0"/>
                <a:cs typeface="Open Sans" panose="020B0606030504020204" pitchFamily="34" charset="0"/>
              </a:rPr>
              <a:t> porque para muchas </a:t>
            </a:r>
            <a:r>
              <a:rPr lang="es-AR" sz="3200" b="1" noProof="0" dirty="0">
                <a:latin typeface="Open Sans" panose="020B0606030504020204" pitchFamily="34" charset="0"/>
                <a:ea typeface="Open Sans" panose="020B0606030504020204" pitchFamily="34" charset="0"/>
                <a:cs typeface="Open Sans" panose="020B0606030504020204" pitchFamily="34" charset="0"/>
              </a:rPr>
              <a:t>personas con visión reducida</a:t>
            </a:r>
            <a:r>
              <a:rPr lang="es-AR" sz="3200" noProof="0" dirty="0">
                <a:latin typeface="Open Sans" panose="020B0606030504020204" pitchFamily="34" charset="0"/>
                <a:ea typeface="Open Sans" panose="020B0606030504020204" pitchFamily="34" charset="0"/>
                <a:cs typeface="Open Sans" panose="020B0606030504020204" pitchFamily="34" charset="0"/>
              </a:rPr>
              <a:t>, algo tan cotidiano como </a:t>
            </a:r>
            <a:r>
              <a:rPr lang="es-AR" sz="3200" b="1" noProof="0" dirty="0">
                <a:latin typeface="Open Sans" panose="020B0606030504020204" pitchFamily="34" charset="0"/>
                <a:ea typeface="Open Sans" panose="020B0606030504020204" pitchFamily="34" charset="0"/>
                <a:cs typeface="Open Sans" panose="020B0606030504020204" pitchFamily="34" charset="0"/>
              </a:rPr>
              <a:t>cruzar la calle </a:t>
            </a:r>
            <a:r>
              <a:rPr lang="es-AR" sz="3200" noProof="0" dirty="0">
                <a:latin typeface="Open Sans" panose="020B0606030504020204" pitchFamily="34" charset="0"/>
                <a:ea typeface="Open Sans" panose="020B0606030504020204" pitchFamily="34" charset="0"/>
                <a:cs typeface="Open Sans" panose="020B0606030504020204" pitchFamily="34" charset="0"/>
              </a:rPr>
              <a:t>puede convertirse en una </a:t>
            </a:r>
            <a:r>
              <a:rPr lang="es-AR" sz="3200" b="1" noProof="0" dirty="0">
                <a:latin typeface="Open Sans" panose="020B0606030504020204" pitchFamily="34" charset="0"/>
                <a:ea typeface="Open Sans" panose="020B0606030504020204" pitchFamily="34" charset="0"/>
                <a:cs typeface="Open Sans" panose="020B0606030504020204" pitchFamily="34" charset="0"/>
              </a:rPr>
              <a:t>situación insegura.</a:t>
            </a:r>
          </a:p>
          <a:p>
            <a:br>
              <a:rPr lang="es-AR" sz="3200" noProof="0" dirty="0">
                <a:latin typeface="Open Sans" panose="020B0606030504020204" pitchFamily="34" charset="0"/>
                <a:ea typeface="Open Sans" panose="020B0606030504020204" pitchFamily="34" charset="0"/>
                <a:cs typeface="Open Sans" panose="020B0606030504020204" pitchFamily="34" charset="0"/>
              </a:rPr>
            </a:br>
            <a:r>
              <a:rPr lang="es-AR" sz="3200" noProof="0" dirty="0">
                <a:latin typeface="Open Sans" panose="020B0606030504020204" pitchFamily="34" charset="0"/>
                <a:ea typeface="Open Sans" panose="020B0606030504020204" pitchFamily="34" charset="0"/>
                <a:cs typeface="Open Sans" panose="020B0606030504020204" pitchFamily="34" charset="0"/>
              </a:rPr>
              <a:t>Las </a:t>
            </a:r>
            <a:r>
              <a:rPr lang="es-AR" sz="3200" b="1" noProof="0" dirty="0">
                <a:latin typeface="Open Sans" panose="020B0606030504020204" pitchFamily="34" charset="0"/>
                <a:ea typeface="Open Sans" panose="020B0606030504020204" pitchFamily="34" charset="0"/>
                <a:cs typeface="Open Sans" panose="020B0606030504020204" pitchFamily="34" charset="0"/>
              </a:rPr>
              <a:t>señales viales </a:t>
            </a:r>
            <a:r>
              <a:rPr lang="es-AR" sz="3200" noProof="0" dirty="0">
                <a:latin typeface="Open Sans" panose="020B0606030504020204" pitchFamily="34" charset="0"/>
                <a:ea typeface="Open Sans" panose="020B0606030504020204" pitchFamily="34" charset="0"/>
                <a:cs typeface="Open Sans" panose="020B0606030504020204" pitchFamily="34" charset="0"/>
              </a:rPr>
              <a:t>actuales </a:t>
            </a:r>
            <a:r>
              <a:rPr lang="es-AR" sz="3200" b="1" noProof="0" dirty="0">
                <a:latin typeface="Open Sans" panose="020B0606030504020204" pitchFamily="34" charset="0"/>
                <a:ea typeface="Open Sans" panose="020B0606030504020204" pitchFamily="34" charset="0"/>
                <a:cs typeface="Open Sans" panose="020B0606030504020204" pitchFamily="34" charset="0"/>
              </a:rPr>
              <a:t>no siempre </a:t>
            </a:r>
            <a:r>
              <a:rPr lang="es-AR" sz="3200" noProof="0" dirty="0">
                <a:latin typeface="Open Sans" panose="020B0606030504020204" pitchFamily="34" charset="0"/>
                <a:ea typeface="Open Sans" panose="020B0606030504020204" pitchFamily="34" charset="0"/>
                <a:cs typeface="Open Sans" panose="020B0606030504020204" pitchFamily="34" charset="0"/>
              </a:rPr>
              <a:t>son </a:t>
            </a:r>
            <a:r>
              <a:rPr lang="es-AR" sz="3200" b="1" noProof="0" dirty="0">
                <a:latin typeface="Open Sans" panose="020B0606030504020204" pitchFamily="34" charset="0"/>
                <a:ea typeface="Open Sans" panose="020B0606030504020204" pitchFamily="34" charset="0"/>
                <a:cs typeface="Open Sans" panose="020B0606030504020204" pitchFamily="34" charset="0"/>
              </a:rPr>
              <a:t>accesibles</a:t>
            </a:r>
            <a:r>
              <a:rPr lang="es-AR" sz="3200" noProof="0" dirty="0">
                <a:latin typeface="Open Sans" panose="020B0606030504020204" pitchFamily="34" charset="0"/>
                <a:ea typeface="Open Sans" panose="020B0606030504020204" pitchFamily="34" charset="0"/>
                <a:cs typeface="Open Sans" panose="020B0606030504020204" pitchFamily="34" charset="0"/>
              </a:rPr>
              <a:t>, y las </a:t>
            </a:r>
            <a:r>
              <a:rPr lang="es-AR" sz="3200" b="1" noProof="0" dirty="0">
                <a:latin typeface="Open Sans" panose="020B0606030504020204" pitchFamily="34" charset="0"/>
                <a:ea typeface="Open Sans" panose="020B0606030504020204" pitchFamily="34" charset="0"/>
                <a:cs typeface="Open Sans" panose="020B0606030504020204" pitchFamily="34" charset="0"/>
              </a:rPr>
              <a:t>soluciones existentes </a:t>
            </a:r>
            <a:r>
              <a:rPr lang="es-AR" sz="3200" noProof="0" dirty="0">
                <a:latin typeface="Open Sans" panose="020B0606030504020204" pitchFamily="34" charset="0"/>
                <a:ea typeface="Open Sans" panose="020B0606030504020204" pitchFamily="34" charset="0"/>
                <a:cs typeface="Open Sans" panose="020B0606030504020204" pitchFamily="34" charset="0"/>
              </a:rPr>
              <a:t>suelen ser </a:t>
            </a:r>
            <a:r>
              <a:rPr lang="es-AR" sz="3200" b="1" noProof="0" dirty="0">
                <a:latin typeface="Open Sans" panose="020B0606030504020204" pitchFamily="34" charset="0"/>
                <a:ea typeface="Open Sans" panose="020B0606030504020204" pitchFamily="34" charset="0"/>
                <a:cs typeface="Open Sans" panose="020B0606030504020204" pitchFamily="34" charset="0"/>
              </a:rPr>
              <a:t>limitadas o difíciles de implementar.</a:t>
            </a:r>
          </a:p>
          <a:p>
            <a:br>
              <a:rPr lang="es-AR" sz="3200" noProof="0" dirty="0">
                <a:latin typeface="Open Sans" panose="020B0606030504020204" pitchFamily="34" charset="0"/>
                <a:ea typeface="Open Sans" panose="020B0606030504020204" pitchFamily="34" charset="0"/>
                <a:cs typeface="Open Sans" panose="020B0606030504020204" pitchFamily="34" charset="0"/>
              </a:rPr>
            </a:br>
            <a:r>
              <a:rPr lang="es-AR" sz="3200" b="1" noProof="0" dirty="0">
                <a:latin typeface="Open Sans" panose="020B0606030504020204" pitchFamily="34" charset="0"/>
                <a:ea typeface="Open Sans" panose="020B0606030504020204" pitchFamily="34" charset="0"/>
                <a:cs typeface="Open Sans" panose="020B0606030504020204" pitchFamily="34" charset="0"/>
              </a:rPr>
              <a:t>VIA nace </a:t>
            </a:r>
            <a:r>
              <a:rPr lang="es-AR" sz="3200" noProof="0" dirty="0">
                <a:latin typeface="Open Sans" panose="020B0606030504020204" pitchFamily="34" charset="0"/>
                <a:ea typeface="Open Sans" panose="020B0606030504020204" pitchFamily="34" charset="0"/>
                <a:cs typeface="Open Sans" panose="020B0606030504020204" pitchFamily="34" charset="0"/>
              </a:rPr>
              <a:t>para ofrecer una </a:t>
            </a:r>
            <a:r>
              <a:rPr lang="es-AR" sz="3200" b="1" noProof="0" dirty="0">
                <a:latin typeface="Open Sans" panose="020B0606030504020204" pitchFamily="34" charset="0"/>
                <a:ea typeface="Open Sans" panose="020B0606030504020204" pitchFamily="34" charset="0"/>
                <a:cs typeface="Open Sans" panose="020B0606030504020204" pitchFamily="34" charset="0"/>
              </a:rPr>
              <a:t>alternativa clara, accesible</a:t>
            </a:r>
            <a:r>
              <a:rPr lang="es-AR" sz="3200" noProof="0" dirty="0">
                <a:latin typeface="Open Sans" panose="020B0606030504020204" pitchFamily="34" charset="0"/>
                <a:ea typeface="Open Sans" panose="020B0606030504020204" pitchFamily="34" charset="0"/>
                <a:cs typeface="Open Sans" panose="020B0606030504020204" pitchFamily="34" charset="0"/>
              </a:rPr>
              <a:t> y </a:t>
            </a:r>
            <a:r>
              <a:rPr lang="es-AR" sz="3200" b="1" noProof="0" dirty="0">
                <a:latin typeface="Open Sans" panose="020B0606030504020204" pitchFamily="34" charset="0"/>
                <a:ea typeface="Open Sans" panose="020B0606030504020204" pitchFamily="34" charset="0"/>
                <a:cs typeface="Open Sans" panose="020B0606030504020204" pitchFamily="34" charset="0"/>
              </a:rPr>
              <a:t>diseñada específicamente </a:t>
            </a:r>
            <a:r>
              <a:rPr lang="es-AR" sz="3200" noProof="0" dirty="0">
                <a:latin typeface="Open Sans" panose="020B0606030504020204" pitchFamily="34" charset="0"/>
                <a:ea typeface="Open Sans" panose="020B0606030504020204" pitchFamily="34" charset="0"/>
                <a:cs typeface="Open Sans" panose="020B0606030504020204" pitchFamily="34" charset="0"/>
              </a:rPr>
              <a:t>para hacer ese </a:t>
            </a:r>
            <a:r>
              <a:rPr lang="es-AR" sz="3200" b="1" noProof="0" dirty="0">
                <a:latin typeface="Open Sans" panose="020B0606030504020204" pitchFamily="34" charset="0"/>
                <a:ea typeface="Open Sans" panose="020B0606030504020204" pitchFamily="34" charset="0"/>
                <a:cs typeface="Open Sans" panose="020B0606030504020204" pitchFamily="34" charset="0"/>
              </a:rPr>
              <a:t>momento crítico </a:t>
            </a:r>
            <a:r>
              <a:rPr lang="es-AR" sz="3200" noProof="0" dirty="0">
                <a:latin typeface="Open Sans" panose="020B0606030504020204" pitchFamily="34" charset="0"/>
                <a:ea typeface="Open Sans" panose="020B0606030504020204" pitchFamily="34" charset="0"/>
                <a:cs typeface="Open Sans" panose="020B0606030504020204" pitchFamily="34" charset="0"/>
              </a:rPr>
              <a:t>mucho </a:t>
            </a:r>
            <a:r>
              <a:rPr lang="es-AR" sz="3200" b="1" noProof="0" dirty="0">
                <a:latin typeface="Open Sans" panose="020B0606030504020204" pitchFamily="34" charset="0"/>
                <a:ea typeface="Open Sans" panose="020B0606030504020204" pitchFamily="34" charset="0"/>
                <a:cs typeface="Open Sans" panose="020B0606030504020204" pitchFamily="34" charset="0"/>
              </a:rPr>
              <a:t>más seguro.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3762183"/>
            <a:ext cx="16230600" cy="2762634"/>
            <a:chOff x="0" y="0"/>
            <a:chExt cx="4274726" cy="727607"/>
          </a:xfrm>
        </p:grpSpPr>
        <p:sp>
          <p:nvSpPr>
            <p:cNvPr id="3" name="Freeform 3"/>
            <p:cNvSpPr/>
            <p:nvPr/>
          </p:nvSpPr>
          <p:spPr>
            <a:xfrm>
              <a:off x="0" y="0"/>
              <a:ext cx="4274726" cy="727607"/>
            </a:xfrm>
            <a:custGeom>
              <a:avLst/>
              <a:gdLst/>
              <a:ahLst/>
              <a:cxnLst/>
              <a:rect l="l" t="t" r="r" b="b"/>
              <a:pathLst>
                <a:path w="4274726" h="727607">
                  <a:moveTo>
                    <a:pt x="0" y="0"/>
                  </a:moveTo>
                  <a:lnTo>
                    <a:pt x="4274726" y="0"/>
                  </a:lnTo>
                  <a:lnTo>
                    <a:pt x="4274726" y="727607"/>
                  </a:lnTo>
                  <a:lnTo>
                    <a:pt x="0" y="727607"/>
                  </a:lnTo>
                  <a:close/>
                </a:path>
              </a:pathLst>
            </a:custGeom>
            <a:solidFill>
              <a:srgbClr val="D7D72F"/>
            </a:solidFill>
          </p:spPr>
          <p:txBody>
            <a:bodyPr/>
            <a:lstStyle/>
            <a:p>
              <a:endParaRPr lang="es-AR" noProof="0" dirty="0"/>
            </a:p>
          </p:txBody>
        </p:sp>
        <p:sp>
          <p:nvSpPr>
            <p:cNvPr id="4" name="TextBox 4"/>
            <p:cNvSpPr txBox="1"/>
            <p:nvPr/>
          </p:nvSpPr>
          <p:spPr>
            <a:xfrm>
              <a:off x="0" y="-38100"/>
              <a:ext cx="4274726" cy="765707"/>
            </a:xfrm>
            <a:prstGeom prst="rect">
              <a:avLst/>
            </a:prstGeom>
          </p:spPr>
          <p:txBody>
            <a:bodyPr lIns="50800" tIns="50800" rIns="50800" bIns="50800" rtlCol="0" anchor="ctr"/>
            <a:lstStyle/>
            <a:p>
              <a:pPr algn="ctr">
                <a:lnSpc>
                  <a:spcPts val="2659"/>
                </a:lnSpc>
              </a:pPr>
              <a:endParaRPr lang="es-AR" noProof="0" dirty="0"/>
            </a:p>
          </p:txBody>
        </p:sp>
      </p:grpSp>
      <p:sp>
        <p:nvSpPr>
          <p:cNvPr id="5" name="TextBox 5"/>
          <p:cNvSpPr txBox="1"/>
          <p:nvPr/>
        </p:nvSpPr>
        <p:spPr>
          <a:xfrm>
            <a:off x="3094166" y="3981096"/>
            <a:ext cx="12099668" cy="1283969"/>
          </a:xfrm>
          <a:prstGeom prst="rect">
            <a:avLst/>
          </a:prstGeom>
        </p:spPr>
        <p:txBody>
          <a:bodyPr lIns="0" tIns="0" rIns="0" bIns="0" rtlCol="0" anchor="t">
            <a:spAutoFit/>
          </a:bodyPr>
          <a:lstStyle/>
          <a:p>
            <a:pPr algn="ctr">
              <a:lnSpc>
                <a:spcPts val="5039"/>
              </a:lnSpc>
              <a:spcBef>
                <a:spcPct val="0"/>
              </a:spcBef>
            </a:pPr>
            <a:r>
              <a:rPr lang="es-AR" sz="4499" b="1" u="sng" spc="1331" noProof="0" dirty="0">
                <a:solidFill>
                  <a:srgbClr val="000000"/>
                </a:solidFill>
                <a:latin typeface="Montserrat Semi-Bold"/>
                <a:ea typeface="Montserrat Semi-Bold"/>
                <a:cs typeface="Montserrat Semi-Bold"/>
                <a:sym typeface="Montserrat Semi-Bold"/>
              </a:rPr>
              <a:t>VIA Y EL PENSAMIENTO DETRAS</a:t>
            </a:r>
          </a:p>
        </p:txBody>
      </p:sp>
      <p:sp>
        <p:nvSpPr>
          <p:cNvPr id="6" name="TextBox 6"/>
          <p:cNvSpPr txBox="1"/>
          <p:nvPr/>
        </p:nvSpPr>
        <p:spPr>
          <a:xfrm>
            <a:off x="3094166" y="7455831"/>
            <a:ext cx="12099668" cy="645794"/>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Semi-Bold"/>
                <a:ea typeface="Montserrat Semi-Bold"/>
                <a:cs typeface="Montserrat Semi-Bold"/>
                <a:sym typeface="Montserrat Semi-Bold"/>
              </a:rPr>
              <a:t>RADAKOFF, MILOVAN</a:t>
            </a:r>
          </a:p>
        </p:txBody>
      </p:sp>
      <p:sp>
        <p:nvSpPr>
          <p:cNvPr id="7" name="TextBox 7"/>
          <p:cNvSpPr txBox="1"/>
          <p:nvPr/>
        </p:nvSpPr>
        <p:spPr>
          <a:xfrm>
            <a:off x="2286000" y="5471278"/>
            <a:ext cx="13716000" cy="564257"/>
          </a:xfrm>
          <a:prstGeom prst="rect">
            <a:avLst/>
          </a:prstGeom>
        </p:spPr>
        <p:txBody>
          <a:bodyPr wrap="square" lIns="0" tIns="0" rIns="0" bIns="0" rtlCol="0" anchor="t">
            <a:spAutoFit/>
          </a:bodyPr>
          <a:lstStyle/>
          <a:p>
            <a:pPr algn="ctr">
              <a:lnSpc>
                <a:spcPts val="4367"/>
              </a:lnSpc>
              <a:spcBef>
                <a:spcPct val="0"/>
              </a:spcBef>
            </a:pPr>
            <a:r>
              <a:rPr lang="es-AR" sz="3899" b="1" spc="1154" noProof="0" dirty="0">
                <a:solidFill>
                  <a:srgbClr val="000000"/>
                </a:solidFill>
                <a:latin typeface="Montserrat Semi-Bold"/>
                <a:ea typeface="Montserrat Semi-Bold"/>
                <a:cs typeface="Montserrat Semi-Bold"/>
                <a:sym typeface="Montserrat Semi-Bold"/>
              </a:rPr>
              <a:t>COMPONENTES  Y FUNIONAMIENTO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58567" y="1261517"/>
            <a:ext cx="16619419" cy="7308825"/>
            <a:chOff x="0" y="0"/>
            <a:chExt cx="4377131" cy="1924958"/>
          </a:xfrm>
        </p:grpSpPr>
        <p:sp>
          <p:nvSpPr>
            <p:cNvPr id="3" name="Freeform 3"/>
            <p:cNvSpPr/>
            <p:nvPr/>
          </p:nvSpPr>
          <p:spPr>
            <a:xfrm>
              <a:off x="0" y="0"/>
              <a:ext cx="4377131" cy="1924958"/>
            </a:xfrm>
            <a:custGeom>
              <a:avLst/>
              <a:gdLst/>
              <a:ahLst/>
              <a:cxnLst/>
              <a:rect l="l" t="t" r="r" b="b"/>
              <a:pathLst>
                <a:path w="4377131" h="1924958">
                  <a:moveTo>
                    <a:pt x="0" y="0"/>
                  </a:moveTo>
                  <a:lnTo>
                    <a:pt x="4377131" y="0"/>
                  </a:lnTo>
                  <a:lnTo>
                    <a:pt x="4377131" y="1924958"/>
                  </a:lnTo>
                  <a:lnTo>
                    <a:pt x="0" y="1924958"/>
                  </a:lnTo>
                  <a:close/>
                </a:path>
              </a:pathLst>
            </a:custGeom>
            <a:solidFill>
              <a:srgbClr val="000000">
                <a:alpha val="0"/>
              </a:srgbClr>
            </a:solidFill>
            <a:ln w="133350" cap="sq">
              <a:solidFill>
                <a:srgbClr val="D7D72F"/>
              </a:solidFill>
              <a:prstDash val="solid"/>
              <a:miter/>
            </a:ln>
          </p:spPr>
          <p:txBody>
            <a:bodyPr/>
            <a:lstStyle/>
            <a:p>
              <a:endParaRPr lang="es-AR" noProof="0" dirty="0"/>
            </a:p>
          </p:txBody>
        </p:sp>
        <p:sp>
          <p:nvSpPr>
            <p:cNvPr id="4" name="TextBox 4"/>
            <p:cNvSpPr txBox="1"/>
            <p:nvPr/>
          </p:nvSpPr>
          <p:spPr>
            <a:xfrm>
              <a:off x="0" y="-38100"/>
              <a:ext cx="4377131" cy="1963058"/>
            </a:xfrm>
            <a:prstGeom prst="rect">
              <a:avLst/>
            </a:prstGeom>
          </p:spPr>
          <p:txBody>
            <a:bodyPr lIns="50800" tIns="50800" rIns="50800" bIns="50800" rtlCol="0" anchor="ctr"/>
            <a:lstStyle/>
            <a:p>
              <a:pPr algn="ctr">
                <a:lnSpc>
                  <a:spcPts val="2659"/>
                </a:lnSpc>
              </a:pPr>
              <a:endParaRPr lang="es-AR" noProof="0" dirty="0"/>
            </a:p>
          </p:txBody>
        </p:sp>
      </p:grpSp>
      <p:grpSp>
        <p:nvGrpSpPr>
          <p:cNvPr id="5" name="Group 5"/>
          <p:cNvGrpSpPr/>
          <p:nvPr/>
        </p:nvGrpSpPr>
        <p:grpSpPr>
          <a:xfrm>
            <a:off x="2813563" y="625610"/>
            <a:ext cx="15035243" cy="6828038"/>
            <a:chOff x="0" y="0"/>
            <a:chExt cx="3959899" cy="1798331"/>
          </a:xfrm>
        </p:grpSpPr>
        <p:sp>
          <p:nvSpPr>
            <p:cNvPr id="6" name="Freeform 6"/>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7" name="TextBox 7"/>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8" name="TextBox 8"/>
          <p:cNvSpPr txBox="1"/>
          <p:nvPr/>
        </p:nvSpPr>
        <p:spPr>
          <a:xfrm>
            <a:off x="4911741" y="2348975"/>
            <a:ext cx="10838889" cy="645794"/>
          </a:xfrm>
          <a:prstGeom prst="rect">
            <a:avLst/>
          </a:prstGeom>
        </p:spPr>
        <p:txBody>
          <a:bodyPr lIns="0" tIns="0" rIns="0" bIns="0" rtlCol="0" anchor="t">
            <a:spAutoFit/>
          </a:bodyPr>
          <a:lstStyle/>
          <a:p>
            <a:pPr algn="l">
              <a:lnSpc>
                <a:spcPts val="5039"/>
              </a:lnSpc>
              <a:spcBef>
                <a:spcPct val="0"/>
              </a:spcBef>
            </a:pPr>
            <a:r>
              <a:rPr lang="es-AR" sz="4499" spc="1331" noProof="0" dirty="0">
                <a:solidFill>
                  <a:srgbClr val="000000"/>
                </a:solidFill>
                <a:latin typeface="Montserrat"/>
                <a:ea typeface="Montserrat"/>
                <a:cs typeface="Montserrat"/>
                <a:sym typeface="Montserrat"/>
              </a:rPr>
              <a:t>COMPONENTES</a:t>
            </a:r>
          </a:p>
        </p:txBody>
      </p:sp>
      <p:sp>
        <p:nvSpPr>
          <p:cNvPr id="9" name="TextBox 9"/>
          <p:cNvSpPr txBox="1"/>
          <p:nvPr/>
        </p:nvSpPr>
        <p:spPr>
          <a:xfrm>
            <a:off x="4911741" y="3617354"/>
            <a:ext cx="11394797" cy="422275"/>
          </a:xfrm>
          <a:prstGeom prst="rect">
            <a:avLst/>
          </a:prstGeom>
        </p:spPr>
        <p:txBody>
          <a:bodyPr lIns="0" tIns="0" rIns="0" bIns="0" rtlCol="0" anchor="t">
            <a:spAutoFit/>
          </a:bodyPr>
          <a:lstStyle/>
          <a:p>
            <a:pPr algn="l">
              <a:lnSpc>
                <a:spcPts val="3499"/>
              </a:lnSpc>
            </a:pPr>
            <a:r>
              <a:rPr lang="es-AR" sz="2499" noProof="0" dirty="0">
                <a:solidFill>
                  <a:srgbClr val="000000"/>
                </a:solidFill>
                <a:latin typeface="Open Sans"/>
                <a:ea typeface="Open Sans"/>
                <a:cs typeface="Open Sans"/>
                <a:sym typeface="Open Sans"/>
              </a:rPr>
              <a:t>Hablaremos de los componentes principales que usamos en el proyecto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26379" y="1729481"/>
            <a:ext cx="15035243" cy="6828038"/>
            <a:chOff x="0" y="0"/>
            <a:chExt cx="3959899" cy="1798331"/>
          </a:xfrm>
        </p:grpSpPr>
        <p:sp>
          <p:nvSpPr>
            <p:cNvPr id="3" name="Freeform 3"/>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4" name="TextBox 4"/>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5" name="Freeform 5"/>
          <p:cNvSpPr/>
          <p:nvPr/>
        </p:nvSpPr>
        <p:spPr>
          <a:xfrm>
            <a:off x="2401749" y="2128362"/>
            <a:ext cx="4020184" cy="6030276"/>
          </a:xfrm>
          <a:custGeom>
            <a:avLst/>
            <a:gdLst/>
            <a:ahLst/>
            <a:cxnLst/>
            <a:rect l="l" t="t" r="r" b="b"/>
            <a:pathLst>
              <a:path w="4020184" h="6030276">
                <a:moveTo>
                  <a:pt x="0" y="0"/>
                </a:moveTo>
                <a:lnTo>
                  <a:pt x="4020184" y="0"/>
                </a:lnTo>
                <a:lnTo>
                  <a:pt x="4020184" y="6030276"/>
                </a:lnTo>
                <a:lnTo>
                  <a:pt x="0" y="6030276"/>
                </a:lnTo>
                <a:lnTo>
                  <a:pt x="0" y="0"/>
                </a:lnTo>
                <a:close/>
              </a:path>
            </a:pathLst>
          </a:custGeom>
          <a:blipFill>
            <a:blip r:embed="rId2"/>
            <a:stretch>
              <a:fillRect/>
            </a:stretch>
          </a:blipFill>
        </p:spPr>
        <p:txBody>
          <a:bodyPr/>
          <a:lstStyle/>
          <a:p>
            <a:endParaRPr lang="es-AR" noProof="0" dirty="0"/>
          </a:p>
        </p:txBody>
      </p:sp>
      <p:sp>
        <p:nvSpPr>
          <p:cNvPr id="6" name="TextBox 6"/>
          <p:cNvSpPr txBox="1"/>
          <p:nvPr/>
        </p:nvSpPr>
        <p:spPr>
          <a:xfrm>
            <a:off x="8102358" y="3185866"/>
            <a:ext cx="6706997" cy="645794"/>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Bold"/>
                <a:ea typeface="Montserrat Bold"/>
                <a:cs typeface="Montserrat Bold"/>
                <a:sym typeface="Montserrat Bold"/>
              </a:rPr>
              <a:t>RASPBERRY</a:t>
            </a:r>
          </a:p>
        </p:txBody>
      </p:sp>
      <p:sp>
        <p:nvSpPr>
          <p:cNvPr id="7" name="TextBox 7"/>
          <p:cNvSpPr txBox="1"/>
          <p:nvPr/>
        </p:nvSpPr>
        <p:spPr>
          <a:xfrm>
            <a:off x="7339660" y="4007653"/>
            <a:ext cx="8345936" cy="3360180"/>
          </a:xfrm>
          <a:prstGeom prst="rect">
            <a:avLst/>
          </a:prstGeom>
        </p:spPr>
        <p:txBody>
          <a:bodyPr lIns="0" tIns="0" rIns="0" bIns="0" rtlCol="0" anchor="t">
            <a:spAutoFit/>
          </a:bodyPr>
          <a:lstStyle/>
          <a:p>
            <a:pPr algn="ctr">
              <a:lnSpc>
                <a:spcPts val="5368"/>
              </a:lnSpc>
            </a:pPr>
            <a:r>
              <a:rPr lang="es-AR" sz="3834" noProof="0" dirty="0">
                <a:solidFill>
                  <a:srgbClr val="000000"/>
                </a:solidFill>
                <a:latin typeface="Open Sans"/>
                <a:ea typeface="Open Sans"/>
                <a:cs typeface="Open Sans"/>
                <a:sym typeface="Open Sans"/>
              </a:rPr>
              <a:t>La Raspberry es la </a:t>
            </a:r>
            <a:r>
              <a:rPr lang="es-AR" sz="3834" noProof="0" dirty="0" err="1">
                <a:solidFill>
                  <a:srgbClr val="000000"/>
                </a:solidFill>
                <a:latin typeface="Open Sans"/>
                <a:ea typeface="Open Sans"/>
                <a:cs typeface="Open Sans"/>
                <a:sym typeface="Open Sans"/>
              </a:rPr>
              <a:t>encargda</a:t>
            </a:r>
            <a:r>
              <a:rPr lang="es-AR" sz="3834" noProof="0" dirty="0">
                <a:solidFill>
                  <a:srgbClr val="000000"/>
                </a:solidFill>
                <a:latin typeface="Open Sans"/>
                <a:ea typeface="Open Sans"/>
                <a:cs typeface="Open Sans"/>
                <a:sym typeface="Open Sans"/>
              </a:rPr>
              <a:t> de recibir la información de la ESP32 y el Sensor. Este procesara la información, y la enviara a manera de texto a un auricular </a:t>
            </a:r>
            <a:r>
              <a:rPr lang="es-AR" sz="3834" noProof="0" dirty="0" err="1">
                <a:solidFill>
                  <a:srgbClr val="000000"/>
                </a:solidFill>
                <a:latin typeface="Open Sans"/>
                <a:ea typeface="Open Sans"/>
                <a:cs typeface="Open Sans"/>
                <a:sym typeface="Open Sans"/>
              </a:rPr>
              <a:t>oseo</a:t>
            </a:r>
            <a:r>
              <a:rPr lang="es-AR" sz="3834" noProof="0" dirty="0">
                <a:solidFill>
                  <a:srgbClr val="000000"/>
                </a:solidFill>
                <a:latin typeface="Open Sans"/>
                <a:ea typeface="Open Sans"/>
                <a:cs typeface="Open Sans"/>
                <a:sym typeface="Open Sans"/>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26379" y="1729481"/>
            <a:ext cx="15035243" cy="6828038"/>
            <a:chOff x="0" y="0"/>
            <a:chExt cx="3959899" cy="1798331"/>
          </a:xfrm>
        </p:grpSpPr>
        <p:sp>
          <p:nvSpPr>
            <p:cNvPr id="3" name="Freeform 3"/>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4" name="TextBox 4"/>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5" name="Freeform 5"/>
          <p:cNvSpPr/>
          <p:nvPr/>
        </p:nvSpPr>
        <p:spPr>
          <a:xfrm>
            <a:off x="2413350" y="2115785"/>
            <a:ext cx="4383338" cy="6055430"/>
          </a:xfrm>
          <a:custGeom>
            <a:avLst/>
            <a:gdLst/>
            <a:ahLst/>
            <a:cxnLst/>
            <a:rect l="l" t="t" r="r" b="b"/>
            <a:pathLst>
              <a:path w="4383338" h="6055430">
                <a:moveTo>
                  <a:pt x="0" y="0"/>
                </a:moveTo>
                <a:lnTo>
                  <a:pt x="4383338" y="0"/>
                </a:lnTo>
                <a:lnTo>
                  <a:pt x="4383338" y="6055430"/>
                </a:lnTo>
                <a:lnTo>
                  <a:pt x="0" y="6055430"/>
                </a:lnTo>
                <a:lnTo>
                  <a:pt x="0" y="0"/>
                </a:lnTo>
                <a:close/>
              </a:path>
            </a:pathLst>
          </a:custGeom>
          <a:blipFill>
            <a:blip r:embed="rId2"/>
            <a:stretch>
              <a:fillRect/>
            </a:stretch>
          </a:blipFill>
        </p:spPr>
        <p:txBody>
          <a:bodyPr/>
          <a:lstStyle/>
          <a:p>
            <a:endParaRPr lang="es-AR" noProof="0" dirty="0"/>
          </a:p>
        </p:txBody>
      </p:sp>
      <p:sp>
        <p:nvSpPr>
          <p:cNvPr id="6" name="TextBox 6"/>
          <p:cNvSpPr txBox="1"/>
          <p:nvPr/>
        </p:nvSpPr>
        <p:spPr>
          <a:xfrm>
            <a:off x="8102358" y="3185866"/>
            <a:ext cx="6706997" cy="645794"/>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Bold"/>
                <a:ea typeface="Montserrat Bold"/>
                <a:cs typeface="Montserrat Bold"/>
                <a:sym typeface="Montserrat Bold"/>
              </a:rPr>
              <a:t>ESP32-CAM</a:t>
            </a:r>
          </a:p>
        </p:txBody>
      </p:sp>
      <p:sp>
        <p:nvSpPr>
          <p:cNvPr id="7" name="TextBox 7"/>
          <p:cNvSpPr txBox="1"/>
          <p:nvPr/>
        </p:nvSpPr>
        <p:spPr>
          <a:xfrm>
            <a:off x="7339660" y="4007653"/>
            <a:ext cx="8345936" cy="2723759"/>
          </a:xfrm>
          <a:prstGeom prst="rect">
            <a:avLst/>
          </a:prstGeom>
        </p:spPr>
        <p:txBody>
          <a:bodyPr lIns="0" tIns="0" rIns="0" bIns="0" rtlCol="0" anchor="t">
            <a:spAutoFit/>
          </a:bodyPr>
          <a:lstStyle/>
          <a:p>
            <a:pPr algn="ctr">
              <a:lnSpc>
                <a:spcPts val="5368"/>
              </a:lnSpc>
            </a:pPr>
            <a:r>
              <a:rPr lang="es-AR" sz="3834" noProof="0" dirty="0">
                <a:solidFill>
                  <a:srgbClr val="000000"/>
                </a:solidFill>
                <a:latin typeface="Open Sans"/>
                <a:ea typeface="Open Sans"/>
                <a:cs typeface="Open Sans"/>
                <a:sym typeface="Open Sans"/>
              </a:rPr>
              <a:t>Se encarga de ver el entorno </a:t>
            </a:r>
            <a:r>
              <a:rPr lang="es-AR" sz="3834" noProof="0" dirty="0" err="1">
                <a:solidFill>
                  <a:srgbClr val="000000"/>
                </a:solidFill>
                <a:latin typeface="Open Sans"/>
                <a:ea typeface="Open Sans"/>
                <a:cs typeface="Open Sans"/>
                <a:sym typeface="Open Sans"/>
              </a:rPr>
              <a:t>atraves</a:t>
            </a:r>
            <a:r>
              <a:rPr lang="es-AR" sz="3834" noProof="0" dirty="0">
                <a:solidFill>
                  <a:srgbClr val="000000"/>
                </a:solidFill>
                <a:latin typeface="Open Sans"/>
                <a:ea typeface="Open Sans"/>
                <a:cs typeface="Open Sans"/>
                <a:sym typeface="Open Sans"/>
              </a:rPr>
              <a:t> de la cámara integrada, para luego enviar el video a la Raspberry para que lo procese.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26379" y="1729481"/>
            <a:ext cx="15035243" cy="6828038"/>
            <a:chOff x="0" y="0"/>
            <a:chExt cx="3959899" cy="1798331"/>
          </a:xfrm>
        </p:grpSpPr>
        <p:sp>
          <p:nvSpPr>
            <p:cNvPr id="3" name="Freeform 3"/>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4" name="TextBox 4"/>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5" name="Freeform 5"/>
          <p:cNvSpPr/>
          <p:nvPr/>
        </p:nvSpPr>
        <p:spPr>
          <a:xfrm>
            <a:off x="1934255" y="2705100"/>
            <a:ext cx="6851070" cy="3985263"/>
          </a:xfrm>
          <a:custGeom>
            <a:avLst/>
            <a:gdLst/>
            <a:ahLst/>
            <a:cxnLst/>
            <a:rect l="l" t="t" r="r" b="b"/>
            <a:pathLst>
              <a:path w="6851070" h="3985263">
                <a:moveTo>
                  <a:pt x="0" y="0"/>
                </a:moveTo>
                <a:lnTo>
                  <a:pt x="6851069" y="0"/>
                </a:lnTo>
                <a:lnTo>
                  <a:pt x="6851069" y="3985263"/>
                </a:lnTo>
                <a:lnTo>
                  <a:pt x="0" y="3985263"/>
                </a:lnTo>
                <a:lnTo>
                  <a:pt x="0" y="0"/>
                </a:lnTo>
                <a:close/>
              </a:path>
            </a:pathLst>
          </a:custGeom>
          <a:blipFill>
            <a:blip r:embed="rId2"/>
            <a:stretch>
              <a:fillRect/>
            </a:stretch>
          </a:blipFill>
        </p:spPr>
        <p:txBody>
          <a:bodyPr/>
          <a:lstStyle/>
          <a:p>
            <a:endParaRPr lang="es-AR" noProof="0" dirty="0"/>
          </a:p>
        </p:txBody>
      </p:sp>
      <p:sp>
        <p:nvSpPr>
          <p:cNvPr id="6" name="TextBox 6"/>
          <p:cNvSpPr txBox="1"/>
          <p:nvPr/>
        </p:nvSpPr>
        <p:spPr>
          <a:xfrm>
            <a:off x="9241436" y="2476243"/>
            <a:ext cx="6706997" cy="1283969"/>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Bold"/>
                <a:ea typeface="Montserrat Bold"/>
                <a:cs typeface="Montserrat Bold"/>
                <a:sym typeface="Montserrat Bold"/>
              </a:rPr>
              <a:t>SENSOR DE PROXIMIDAD</a:t>
            </a:r>
          </a:p>
        </p:txBody>
      </p:sp>
      <p:sp>
        <p:nvSpPr>
          <p:cNvPr id="7" name="TextBox 7"/>
          <p:cNvSpPr txBox="1"/>
          <p:nvPr/>
        </p:nvSpPr>
        <p:spPr>
          <a:xfrm>
            <a:off x="9144000" y="4152900"/>
            <a:ext cx="7060421" cy="3416256"/>
          </a:xfrm>
          <a:prstGeom prst="rect">
            <a:avLst/>
          </a:prstGeom>
        </p:spPr>
        <p:txBody>
          <a:bodyPr wrap="square" lIns="0" tIns="0" rIns="0" bIns="0" rtlCol="0" anchor="t">
            <a:spAutoFit/>
          </a:bodyPr>
          <a:lstStyle/>
          <a:p>
            <a:pPr algn="ctr">
              <a:lnSpc>
                <a:spcPts val="5368"/>
              </a:lnSpc>
            </a:pPr>
            <a:r>
              <a:rPr lang="es-AR" sz="3834" noProof="0" dirty="0">
                <a:solidFill>
                  <a:srgbClr val="000000"/>
                </a:solidFill>
                <a:latin typeface="Open Sans"/>
                <a:ea typeface="Open Sans"/>
                <a:cs typeface="Open Sans"/>
                <a:sym typeface="Open Sans"/>
              </a:rPr>
              <a:t>Este sensor se encarga de medir la distancia con lo que tenga enfrente enviando una señal y calculando el tiempo que tarda esta en volver.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15323-6E7A-6952-7689-56F70EF4AFB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0BC0DD4-172D-D83B-FC3C-FD65AD6AEC0B}"/>
              </a:ext>
            </a:extLst>
          </p:cNvPr>
          <p:cNvGrpSpPr/>
          <p:nvPr/>
        </p:nvGrpSpPr>
        <p:grpSpPr>
          <a:xfrm>
            <a:off x="858567" y="1261517"/>
            <a:ext cx="16619419" cy="7308825"/>
            <a:chOff x="0" y="0"/>
            <a:chExt cx="4377131" cy="1924958"/>
          </a:xfrm>
        </p:grpSpPr>
        <p:sp>
          <p:nvSpPr>
            <p:cNvPr id="3" name="Freeform 3">
              <a:extLst>
                <a:ext uri="{FF2B5EF4-FFF2-40B4-BE49-F238E27FC236}">
                  <a16:creationId xmlns:a16="http://schemas.microsoft.com/office/drawing/2014/main" id="{DCD04E96-8FDB-7316-50E9-52B4FB083C69}"/>
                </a:ext>
              </a:extLst>
            </p:cNvPr>
            <p:cNvSpPr/>
            <p:nvPr/>
          </p:nvSpPr>
          <p:spPr>
            <a:xfrm>
              <a:off x="0" y="0"/>
              <a:ext cx="4377131" cy="1924958"/>
            </a:xfrm>
            <a:custGeom>
              <a:avLst/>
              <a:gdLst/>
              <a:ahLst/>
              <a:cxnLst/>
              <a:rect l="l" t="t" r="r" b="b"/>
              <a:pathLst>
                <a:path w="4377131" h="1924958">
                  <a:moveTo>
                    <a:pt x="0" y="0"/>
                  </a:moveTo>
                  <a:lnTo>
                    <a:pt x="4377131" y="0"/>
                  </a:lnTo>
                  <a:lnTo>
                    <a:pt x="4377131" y="1924958"/>
                  </a:lnTo>
                  <a:lnTo>
                    <a:pt x="0" y="1924958"/>
                  </a:lnTo>
                  <a:close/>
                </a:path>
              </a:pathLst>
            </a:custGeom>
            <a:solidFill>
              <a:srgbClr val="000000">
                <a:alpha val="0"/>
              </a:srgbClr>
            </a:solidFill>
            <a:ln w="133350" cap="sq">
              <a:solidFill>
                <a:srgbClr val="D7D72F"/>
              </a:solidFill>
              <a:prstDash val="solid"/>
              <a:miter/>
            </a:ln>
          </p:spPr>
          <p:txBody>
            <a:bodyPr/>
            <a:lstStyle/>
            <a:p>
              <a:endParaRPr lang="es-AR" noProof="0" dirty="0"/>
            </a:p>
          </p:txBody>
        </p:sp>
        <p:sp>
          <p:nvSpPr>
            <p:cNvPr id="4" name="TextBox 4">
              <a:extLst>
                <a:ext uri="{FF2B5EF4-FFF2-40B4-BE49-F238E27FC236}">
                  <a16:creationId xmlns:a16="http://schemas.microsoft.com/office/drawing/2014/main" id="{E90D8691-6F88-755D-B1EE-32BC90DD6109}"/>
                </a:ext>
              </a:extLst>
            </p:cNvPr>
            <p:cNvSpPr txBox="1"/>
            <p:nvPr/>
          </p:nvSpPr>
          <p:spPr>
            <a:xfrm>
              <a:off x="0" y="-38100"/>
              <a:ext cx="4377131" cy="1963058"/>
            </a:xfrm>
            <a:prstGeom prst="rect">
              <a:avLst/>
            </a:prstGeom>
          </p:spPr>
          <p:txBody>
            <a:bodyPr lIns="50800" tIns="50800" rIns="50800" bIns="50800" rtlCol="0" anchor="ctr"/>
            <a:lstStyle/>
            <a:p>
              <a:pPr algn="ctr">
                <a:lnSpc>
                  <a:spcPts val="2659"/>
                </a:lnSpc>
              </a:pPr>
              <a:endParaRPr lang="es-AR" noProof="0" dirty="0"/>
            </a:p>
          </p:txBody>
        </p:sp>
      </p:grpSp>
      <p:grpSp>
        <p:nvGrpSpPr>
          <p:cNvPr id="5" name="Group 5">
            <a:extLst>
              <a:ext uri="{FF2B5EF4-FFF2-40B4-BE49-F238E27FC236}">
                <a16:creationId xmlns:a16="http://schemas.microsoft.com/office/drawing/2014/main" id="{2D7A2E0D-443C-3280-FBC2-E150F22D11C4}"/>
              </a:ext>
            </a:extLst>
          </p:cNvPr>
          <p:cNvGrpSpPr/>
          <p:nvPr/>
        </p:nvGrpSpPr>
        <p:grpSpPr>
          <a:xfrm>
            <a:off x="1650654" y="1429579"/>
            <a:ext cx="15035243" cy="6828038"/>
            <a:chOff x="0" y="0"/>
            <a:chExt cx="3959899" cy="1798331"/>
          </a:xfrm>
        </p:grpSpPr>
        <p:sp>
          <p:nvSpPr>
            <p:cNvPr id="6" name="Freeform 6">
              <a:extLst>
                <a:ext uri="{FF2B5EF4-FFF2-40B4-BE49-F238E27FC236}">
                  <a16:creationId xmlns:a16="http://schemas.microsoft.com/office/drawing/2014/main" id="{776648A4-88B0-D3AB-5B8B-F072584C0517}"/>
                </a:ext>
              </a:extLst>
            </p:cNvPr>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7" name="TextBox 7">
              <a:extLst>
                <a:ext uri="{FF2B5EF4-FFF2-40B4-BE49-F238E27FC236}">
                  <a16:creationId xmlns:a16="http://schemas.microsoft.com/office/drawing/2014/main" id="{37496497-50FD-05B7-271A-07322EAF0D98}"/>
                </a:ext>
              </a:extLst>
            </p:cNvPr>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8" name="TextBox 8">
            <a:extLst>
              <a:ext uri="{FF2B5EF4-FFF2-40B4-BE49-F238E27FC236}">
                <a16:creationId xmlns:a16="http://schemas.microsoft.com/office/drawing/2014/main" id="{669584C4-A163-7F09-BA4D-B1E36009B6C5}"/>
              </a:ext>
            </a:extLst>
          </p:cNvPr>
          <p:cNvSpPr txBox="1"/>
          <p:nvPr/>
        </p:nvSpPr>
        <p:spPr>
          <a:xfrm>
            <a:off x="2133600" y="1706486"/>
            <a:ext cx="10838889" cy="645794"/>
          </a:xfrm>
          <a:prstGeom prst="rect">
            <a:avLst/>
          </a:prstGeom>
        </p:spPr>
        <p:txBody>
          <a:bodyPr lIns="0" tIns="0" rIns="0" bIns="0" rtlCol="0" anchor="t">
            <a:spAutoFit/>
          </a:bodyPr>
          <a:lstStyle/>
          <a:p>
            <a:pPr algn="l">
              <a:lnSpc>
                <a:spcPts val="5039"/>
              </a:lnSpc>
              <a:spcBef>
                <a:spcPct val="0"/>
              </a:spcBef>
            </a:pPr>
            <a:r>
              <a:rPr lang="es-AR" sz="4499" spc="1331" noProof="0" dirty="0">
                <a:solidFill>
                  <a:srgbClr val="000000"/>
                </a:solidFill>
                <a:latin typeface="Montserrat"/>
                <a:ea typeface="Montserrat"/>
                <a:cs typeface="Montserrat"/>
                <a:sym typeface="Montserrat"/>
              </a:rPr>
              <a:t>¿COMO FUNCIONA?</a:t>
            </a:r>
          </a:p>
        </p:txBody>
      </p:sp>
      <p:sp>
        <p:nvSpPr>
          <p:cNvPr id="9" name="TextBox 9">
            <a:extLst>
              <a:ext uri="{FF2B5EF4-FFF2-40B4-BE49-F238E27FC236}">
                <a16:creationId xmlns:a16="http://schemas.microsoft.com/office/drawing/2014/main" id="{0D62D4CC-F783-9DFF-FA8A-DB9C8824F15A}"/>
              </a:ext>
            </a:extLst>
          </p:cNvPr>
          <p:cNvSpPr txBox="1"/>
          <p:nvPr/>
        </p:nvSpPr>
        <p:spPr>
          <a:xfrm>
            <a:off x="2514600" y="3204507"/>
            <a:ext cx="13868400" cy="4924425"/>
          </a:xfrm>
          <a:prstGeom prst="rect">
            <a:avLst/>
          </a:prstGeom>
        </p:spPr>
        <p:txBody>
          <a:bodyPr wrap="square" lIns="0" tIns="0" rIns="0" bIns="0" rtlCol="0" anchor="t">
            <a:spAutoFit/>
          </a:bodyPr>
          <a:lstStyle/>
          <a:p>
            <a:r>
              <a:rPr lang="es-AR" sz="3200" noProof="0" dirty="0">
                <a:latin typeface="Open Sans" panose="020B0606030504020204" pitchFamily="34" charset="0"/>
                <a:ea typeface="Open Sans" panose="020B0606030504020204" pitchFamily="34" charset="0"/>
                <a:cs typeface="Open Sans" panose="020B0606030504020204" pitchFamily="34" charset="0"/>
              </a:rPr>
              <a:t>Todo empieza con la </a:t>
            </a:r>
            <a:r>
              <a:rPr lang="es-AR" sz="3200" b="1" noProof="0" dirty="0">
                <a:latin typeface="Open Sans" panose="020B0606030504020204" pitchFamily="34" charset="0"/>
                <a:ea typeface="Open Sans" panose="020B0606030504020204" pitchFamily="34" charset="0"/>
                <a:cs typeface="Open Sans" panose="020B0606030504020204" pitchFamily="34" charset="0"/>
              </a:rPr>
              <a:t>ESP32-CAM</a:t>
            </a:r>
            <a:r>
              <a:rPr lang="es-AR" sz="3200" noProof="0" dirty="0">
                <a:latin typeface="Open Sans" panose="020B0606030504020204" pitchFamily="34" charset="0"/>
                <a:ea typeface="Open Sans" panose="020B0606030504020204" pitchFamily="34" charset="0"/>
                <a:cs typeface="Open Sans" panose="020B0606030504020204" pitchFamily="34" charset="0"/>
              </a:rPr>
              <a:t>, la cual </a:t>
            </a:r>
            <a:r>
              <a:rPr lang="es-AR" sz="3200" b="1" noProof="0" dirty="0">
                <a:latin typeface="Open Sans" panose="020B0606030504020204" pitchFamily="34" charset="0"/>
                <a:ea typeface="Open Sans" panose="020B0606030504020204" pitchFamily="34" charset="0"/>
                <a:cs typeface="Open Sans" panose="020B0606030504020204" pitchFamily="34" charset="0"/>
              </a:rPr>
              <a:t>capturara el entorno </a:t>
            </a:r>
            <a:r>
              <a:rPr lang="es-AR" sz="3200" noProof="0" dirty="0">
                <a:latin typeface="Open Sans" panose="020B0606030504020204" pitchFamily="34" charset="0"/>
                <a:ea typeface="Open Sans" panose="020B0606030504020204" pitchFamily="34" charset="0"/>
                <a:cs typeface="Open Sans" panose="020B0606030504020204" pitchFamily="34" charset="0"/>
              </a:rPr>
              <a:t>a modo de video para </a:t>
            </a:r>
            <a:r>
              <a:rPr lang="es-AR" sz="3200" b="1" noProof="0" dirty="0">
                <a:latin typeface="Open Sans" panose="020B0606030504020204" pitchFamily="34" charset="0"/>
                <a:ea typeface="Open Sans" panose="020B0606030504020204" pitchFamily="34" charset="0"/>
                <a:cs typeface="Open Sans" panose="020B0606030504020204" pitchFamily="34" charset="0"/>
              </a:rPr>
              <a:t>enviárselo</a:t>
            </a:r>
            <a:r>
              <a:rPr lang="es-AR" sz="3200" noProof="0" dirty="0">
                <a:latin typeface="Open Sans" panose="020B0606030504020204" pitchFamily="34" charset="0"/>
                <a:ea typeface="Open Sans" panose="020B0606030504020204" pitchFamily="34" charset="0"/>
                <a:cs typeface="Open Sans" panose="020B0606030504020204" pitchFamily="34" charset="0"/>
              </a:rPr>
              <a:t> a la </a:t>
            </a:r>
            <a:r>
              <a:rPr lang="es-AR" sz="3200" b="1" noProof="0" dirty="0">
                <a:latin typeface="Open Sans" panose="020B0606030504020204" pitchFamily="34" charset="0"/>
                <a:ea typeface="Open Sans" panose="020B0606030504020204" pitchFamily="34" charset="0"/>
                <a:cs typeface="Open Sans" panose="020B0606030504020204" pitchFamily="34" charset="0"/>
              </a:rPr>
              <a:t>raspberry</a:t>
            </a:r>
            <a:r>
              <a:rPr lang="es-AR" sz="3200" noProof="0" dirty="0">
                <a:latin typeface="Open Sans" panose="020B0606030504020204" pitchFamily="34" charset="0"/>
                <a:ea typeface="Open Sans" panose="020B0606030504020204" pitchFamily="34" charset="0"/>
                <a:cs typeface="Open Sans" panose="020B0606030504020204" pitchFamily="34" charset="0"/>
              </a:rPr>
              <a:t>. A su vez, el </a:t>
            </a:r>
            <a:r>
              <a:rPr lang="es-AR" sz="3200" b="1" noProof="0" dirty="0">
                <a:latin typeface="Open Sans" panose="020B0606030504020204" pitchFamily="34" charset="0"/>
                <a:ea typeface="Open Sans" panose="020B0606030504020204" pitchFamily="34" charset="0"/>
                <a:cs typeface="Open Sans" panose="020B0606030504020204" pitchFamily="34" charset="0"/>
              </a:rPr>
              <a:t>sensor de proximidad </a:t>
            </a:r>
            <a:r>
              <a:rPr lang="es-AR" sz="3200" noProof="0" dirty="0">
                <a:latin typeface="Open Sans" panose="020B0606030504020204" pitchFamily="34" charset="0"/>
                <a:ea typeface="Open Sans" panose="020B0606030504020204" pitchFamily="34" charset="0"/>
                <a:cs typeface="Open Sans" panose="020B0606030504020204" pitchFamily="34" charset="0"/>
              </a:rPr>
              <a:t>envía la </a:t>
            </a:r>
            <a:r>
              <a:rPr lang="es-AR" sz="3200" b="1" noProof="0" dirty="0">
                <a:latin typeface="Open Sans" panose="020B0606030504020204" pitchFamily="34" charset="0"/>
                <a:ea typeface="Open Sans" panose="020B0606030504020204" pitchFamily="34" charset="0"/>
                <a:cs typeface="Open Sans" panose="020B0606030504020204" pitchFamily="34" charset="0"/>
              </a:rPr>
              <a:t>distancia</a:t>
            </a:r>
            <a:r>
              <a:rPr lang="es-AR" sz="3200" noProof="0" dirty="0">
                <a:latin typeface="Open Sans" panose="020B0606030504020204" pitchFamily="34" charset="0"/>
                <a:ea typeface="Open Sans" panose="020B0606030504020204" pitchFamily="34" charset="0"/>
                <a:cs typeface="Open Sans" panose="020B0606030504020204" pitchFamily="34" charset="0"/>
              </a:rPr>
              <a:t> que lee a la </a:t>
            </a:r>
            <a:r>
              <a:rPr lang="es-AR" sz="3200" b="1" noProof="0" dirty="0">
                <a:latin typeface="Open Sans" panose="020B0606030504020204" pitchFamily="34" charset="0"/>
                <a:ea typeface="Open Sans" panose="020B0606030504020204" pitchFamily="34" charset="0"/>
                <a:cs typeface="Open Sans" panose="020B0606030504020204" pitchFamily="34" charset="0"/>
              </a:rPr>
              <a:t>raspberry</a:t>
            </a:r>
            <a:r>
              <a:rPr lang="es-AR" sz="3200" noProof="0" dirty="0">
                <a:latin typeface="Open Sans" panose="020B0606030504020204" pitchFamily="34" charset="0"/>
                <a:ea typeface="Open Sans" panose="020B0606030504020204" pitchFamily="34" charset="0"/>
                <a:cs typeface="Open Sans" panose="020B0606030504020204" pitchFamily="34" charset="0"/>
              </a:rPr>
              <a:t> junto con la CAM.</a:t>
            </a:r>
          </a:p>
          <a:p>
            <a:endParaRPr lang="es-AR" sz="3200" b="1" noProof="0" dirty="0">
              <a:latin typeface="Open Sans" panose="020B0606030504020204" pitchFamily="34" charset="0"/>
              <a:ea typeface="Open Sans" panose="020B0606030504020204" pitchFamily="34" charset="0"/>
              <a:cs typeface="Open Sans" panose="020B0606030504020204" pitchFamily="34" charset="0"/>
            </a:endParaRPr>
          </a:p>
          <a:p>
            <a:r>
              <a:rPr lang="es-AR" sz="3200" noProof="0" dirty="0">
                <a:latin typeface="Open Sans" panose="020B0606030504020204" pitchFamily="34" charset="0"/>
                <a:ea typeface="Open Sans" panose="020B0606030504020204" pitchFamily="34" charset="0"/>
                <a:cs typeface="Open Sans" panose="020B0606030504020204" pitchFamily="34" charset="0"/>
              </a:rPr>
              <a:t>Una vez </a:t>
            </a:r>
            <a:r>
              <a:rPr lang="es-AR" sz="3200" b="1" noProof="0" dirty="0">
                <a:latin typeface="Open Sans" panose="020B0606030504020204" pitchFamily="34" charset="0"/>
                <a:ea typeface="Open Sans" panose="020B0606030504020204" pitchFamily="34" charset="0"/>
                <a:cs typeface="Open Sans" panose="020B0606030504020204" pitchFamily="34" charset="0"/>
              </a:rPr>
              <a:t>recibe todo</a:t>
            </a:r>
            <a:r>
              <a:rPr lang="es-AR" sz="3200" noProof="0" dirty="0">
                <a:latin typeface="Open Sans" panose="020B0606030504020204" pitchFamily="34" charset="0"/>
                <a:ea typeface="Open Sans" panose="020B0606030504020204" pitchFamily="34" charset="0"/>
                <a:cs typeface="Open Sans" panose="020B0606030504020204" pitchFamily="34" charset="0"/>
              </a:rPr>
              <a:t>, la raspberry lo </a:t>
            </a:r>
            <a:r>
              <a:rPr lang="es-AR" sz="3200" b="1" noProof="0" dirty="0">
                <a:latin typeface="Open Sans" panose="020B0606030504020204" pitchFamily="34" charset="0"/>
                <a:ea typeface="Open Sans" panose="020B0606030504020204" pitchFamily="34" charset="0"/>
                <a:cs typeface="Open Sans" panose="020B0606030504020204" pitchFamily="34" charset="0"/>
              </a:rPr>
              <a:t>procesa</a:t>
            </a:r>
            <a:r>
              <a:rPr lang="es-AR" sz="3200" noProof="0" dirty="0">
                <a:latin typeface="Open Sans" panose="020B0606030504020204" pitchFamily="34" charset="0"/>
                <a:ea typeface="Open Sans" panose="020B0606030504020204" pitchFamily="34" charset="0"/>
                <a:cs typeface="Open Sans" panose="020B0606030504020204" pitchFamily="34" charset="0"/>
              </a:rPr>
              <a:t>, </a:t>
            </a:r>
            <a:r>
              <a:rPr lang="es-AR" sz="3200" b="1" noProof="0" dirty="0">
                <a:latin typeface="Open Sans" panose="020B0606030504020204" pitchFamily="34" charset="0"/>
                <a:ea typeface="Open Sans" panose="020B0606030504020204" pitchFamily="34" charset="0"/>
                <a:cs typeface="Open Sans" panose="020B0606030504020204" pitchFamily="34" charset="0"/>
              </a:rPr>
              <a:t>detecta lo que necesi</a:t>
            </a:r>
            <a:r>
              <a:rPr lang="es-AR" sz="3200" noProof="0" dirty="0">
                <a:latin typeface="Open Sans" panose="020B0606030504020204" pitchFamily="34" charset="0"/>
                <a:ea typeface="Open Sans" panose="020B0606030504020204" pitchFamily="34" charset="0"/>
                <a:cs typeface="Open Sans" panose="020B0606030504020204" pitchFamily="34" charset="0"/>
              </a:rPr>
              <a:t>te del video y, por ultimo, </a:t>
            </a:r>
            <a:r>
              <a:rPr lang="es-AR" sz="3200" b="1" noProof="0" dirty="0">
                <a:latin typeface="Open Sans" panose="020B0606030504020204" pitchFamily="34" charset="0"/>
                <a:ea typeface="Open Sans" panose="020B0606030504020204" pitchFamily="34" charset="0"/>
                <a:cs typeface="Open Sans" panose="020B0606030504020204" pitchFamily="34" charset="0"/>
              </a:rPr>
              <a:t>convierte</a:t>
            </a:r>
            <a:r>
              <a:rPr lang="es-AR" sz="3200" noProof="0" dirty="0">
                <a:latin typeface="Open Sans" panose="020B0606030504020204" pitchFamily="34" charset="0"/>
                <a:ea typeface="Open Sans" panose="020B0606030504020204" pitchFamily="34" charset="0"/>
                <a:cs typeface="Open Sans" panose="020B0606030504020204" pitchFamily="34" charset="0"/>
              </a:rPr>
              <a:t> todo (Lo detectado y la distancia) </a:t>
            </a:r>
            <a:r>
              <a:rPr lang="es-AR" sz="3200" b="1" noProof="0" dirty="0">
                <a:latin typeface="Open Sans" panose="020B0606030504020204" pitchFamily="34" charset="0"/>
                <a:ea typeface="Open Sans" panose="020B0606030504020204" pitchFamily="34" charset="0"/>
                <a:cs typeface="Open Sans" panose="020B0606030504020204" pitchFamily="34" charset="0"/>
              </a:rPr>
              <a:t>a texto.</a:t>
            </a:r>
          </a:p>
          <a:p>
            <a:endParaRPr lang="es-AR" sz="3200" noProof="0" dirty="0">
              <a:latin typeface="Open Sans" panose="020B0606030504020204" pitchFamily="34" charset="0"/>
              <a:ea typeface="Open Sans" panose="020B0606030504020204" pitchFamily="34" charset="0"/>
              <a:cs typeface="Open Sans" panose="020B0606030504020204" pitchFamily="34" charset="0"/>
            </a:endParaRPr>
          </a:p>
          <a:p>
            <a:r>
              <a:rPr lang="es-AR" sz="3200" noProof="0" dirty="0">
                <a:latin typeface="Open Sans" panose="020B0606030504020204" pitchFamily="34" charset="0"/>
                <a:ea typeface="Open Sans" panose="020B0606030504020204" pitchFamily="34" charset="0"/>
                <a:cs typeface="Open Sans" panose="020B0606030504020204" pitchFamily="34" charset="0"/>
              </a:rPr>
              <a:t>Por ultimo, el </a:t>
            </a:r>
            <a:r>
              <a:rPr lang="es-AR" sz="3200" b="1" noProof="0" dirty="0">
                <a:latin typeface="Open Sans" panose="020B0606030504020204" pitchFamily="34" charset="0"/>
                <a:ea typeface="Open Sans" panose="020B0606030504020204" pitchFamily="34" charset="0"/>
                <a:cs typeface="Open Sans" panose="020B0606030504020204" pitchFamily="34" charset="0"/>
              </a:rPr>
              <a:t>texto generado </a:t>
            </a:r>
            <a:r>
              <a:rPr lang="es-AR" sz="3200" noProof="0" dirty="0">
                <a:latin typeface="Open Sans" panose="020B0606030504020204" pitchFamily="34" charset="0"/>
                <a:ea typeface="Open Sans" panose="020B0606030504020204" pitchFamily="34" charset="0"/>
                <a:cs typeface="Open Sans" panose="020B0606030504020204" pitchFamily="34" charset="0"/>
              </a:rPr>
              <a:t>por la raspberry es enviado al </a:t>
            </a:r>
            <a:r>
              <a:rPr lang="es-AR" sz="3200" b="1" noProof="0" dirty="0">
                <a:latin typeface="Open Sans" panose="020B0606030504020204" pitchFamily="34" charset="0"/>
                <a:ea typeface="Open Sans" panose="020B0606030504020204" pitchFamily="34" charset="0"/>
                <a:cs typeface="Open Sans" panose="020B0606030504020204" pitchFamily="34" charset="0"/>
              </a:rPr>
              <a:t>auricular óseo</a:t>
            </a:r>
            <a:r>
              <a:rPr lang="es-AR" sz="3200" noProof="0" dirty="0">
                <a:latin typeface="Open Sans" panose="020B0606030504020204" pitchFamily="34" charset="0"/>
                <a:ea typeface="Open Sans" panose="020B0606030504020204" pitchFamily="34" charset="0"/>
                <a:cs typeface="Open Sans" panose="020B0606030504020204" pitchFamily="34" charset="0"/>
              </a:rPr>
              <a:t>, el cual lo </a:t>
            </a:r>
            <a:r>
              <a:rPr lang="es-AR" sz="3200" b="1" noProof="0" dirty="0">
                <a:latin typeface="Open Sans" panose="020B0606030504020204" pitchFamily="34" charset="0"/>
                <a:ea typeface="Open Sans" panose="020B0606030504020204" pitchFamily="34" charset="0"/>
                <a:cs typeface="Open Sans" panose="020B0606030504020204" pitchFamily="34" charset="0"/>
              </a:rPr>
              <a:t>dictara al usuario</a:t>
            </a:r>
            <a:r>
              <a:rPr lang="es-AR" sz="3200" noProof="0"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1378563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3762183"/>
            <a:ext cx="16230600" cy="2762634"/>
            <a:chOff x="0" y="0"/>
            <a:chExt cx="4274726" cy="727607"/>
          </a:xfrm>
        </p:grpSpPr>
        <p:sp>
          <p:nvSpPr>
            <p:cNvPr id="3" name="Freeform 3"/>
            <p:cNvSpPr/>
            <p:nvPr/>
          </p:nvSpPr>
          <p:spPr>
            <a:xfrm>
              <a:off x="0" y="0"/>
              <a:ext cx="4274726" cy="727607"/>
            </a:xfrm>
            <a:custGeom>
              <a:avLst/>
              <a:gdLst/>
              <a:ahLst/>
              <a:cxnLst/>
              <a:rect l="l" t="t" r="r" b="b"/>
              <a:pathLst>
                <a:path w="4274726" h="727607">
                  <a:moveTo>
                    <a:pt x="0" y="0"/>
                  </a:moveTo>
                  <a:lnTo>
                    <a:pt x="4274726" y="0"/>
                  </a:lnTo>
                  <a:lnTo>
                    <a:pt x="4274726" y="727607"/>
                  </a:lnTo>
                  <a:lnTo>
                    <a:pt x="0" y="727607"/>
                  </a:lnTo>
                  <a:close/>
                </a:path>
              </a:pathLst>
            </a:custGeom>
            <a:solidFill>
              <a:srgbClr val="D7D72F"/>
            </a:solidFill>
          </p:spPr>
          <p:txBody>
            <a:bodyPr/>
            <a:lstStyle/>
            <a:p>
              <a:endParaRPr lang="es-AR" noProof="0" dirty="0"/>
            </a:p>
          </p:txBody>
        </p:sp>
        <p:sp>
          <p:nvSpPr>
            <p:cNvPr id="4" name="TextBox 4"/>
            <p:cNvSpPr txBox="1"/>
            <p:nvPr/>
          </p:nvSpPr>
          <p:spPr>
            <a:xfrm>
              <a:off x="0" y="-38100"/>
              <a:ext cx="4274726" cy="765707"/>
            </a:xfrm>
            <a:prstGeom prst="rect">
              <a:avLst/>
            </a:prstGeom>
          </p:spPr>
          <p:txBody>
            <a:bodyPr lIns="50800" tIns="50800" rIns="50800" bIns="50800" rtlCol="0" anchor="ctr"/>
            <a:lstStyle/>
            <a:p>
              <a:pPr algn="ctr">
                <a:lnSpc>
                  <a:spcPts val="2659"/>
                </a:lnSpc>
              </a:pPr>
              <a:endParaRPr lang="es-AR" noProof="0" dirty="0"/>
            </a:p>
          </p:txBody>
        </p:sp>
      </p:grpSp>
      <p:sp>
        <p:nvSpPr>
          <p:cNvPr id="5" name="TextBox 5"/>
          <p:cNvSpPr txBox="1"/>
          <p:nvPr/>
        </p:nvSpPr>
        <p:spPr>
          <a:xfrm>
            <a:off x="3094166" y="4520565"/>
            <a:ext cx="12099668" cy="645794"/>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Semi-Bold"/>
                <a:ea typeface="Montserrat Semi-Bold"/>
                <a:cs typeface="Montserrat Semi-Bold"/>
                <a:sym typeface="Montserrat Semi-Bold"/>
              </a:rPr>
              <a:t>PROBLEMAS ABORDADOS</a:t>
            </a:r>
          </a:p>
        </p:txBody>
      </p:sp>
      <p:sp>
        <p:nvSpPr>
          <p:cNvPr id="6" name="TextBox 6"/>
          <p:cNvSpPr txBox="1"/>
          <p:nvPr/>
        </p:nvSpPr>
        <p:spPr>
          <a:xfrm>
            <a:off x="3094166" y="7474434"/>
            <a:ext cx="12099668" cy="645794"/>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Semi-Bold"/>
                <a:ea typeface="Montserrat Semi-Bold"/>
                <a:cs typeface="Montserrat Semi-Bold"/>
                <a:sym typeface="Montserrat Semi-Bold"/>
              </a:rPr>
              <a:t>PAZ, BAUTISTA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2">
            <a:extLst>
              <a:ext uri="{FF2B5EF4-FFF2-40B4-BE49-F238E27FC236}">
                <a16:creationId xmlns:a16="http://schemas.microsoft.com/office/drawing/2014/main" id="{A126A070-A67B-AA68-44EC-0A187AA25228}"/>
              </a:ext>
            </a:extLst>
          </p:cNvPr>
          <p:cNvGrpSpPr/>
          <p:nvPr/>
        </p:nvGrpSpPr>
        <p:grpSpPr>
          <a:xfrm>
            <a:off x="609600" y="2597748"/>
            <a:ext cx="16619419" cy="7308825"/>
            <a:chOff x="0" y="0"/>
            <a:chExt cx="4377131" cy="1924958"/>
          </a:xfrm>
        </p:grpSpPr>
        <p:sp>
          <p:nvSpPr>
            <p:cNvPr id="12" name="Freeform 3">
              <a:extLst>
                <a:ext uri="{FF2B5EF4-FFF2-40B4-BE49-F238E27FC236}">
                  <a16:creationId xmlns:a16="http://schemas.microsoft.com/office/drawing/2014/main" id="{4102936D-F682-3017-9C93-8E94632D7C45}"/>
                </a:ext>
              </a:extLst>
            </p:cNvPr>
            <p:cNvSpPr/>
            <p:nvPr/>
          </p:nvSpPr>
          <p:spPr>
            <a:xfrm>
              <a:off x="0" y="0"/>
              <a:ext cx="4377131" cy="1924958"/>
            </a:xfrm>
            <a:custGeom>
              <a:avLst/>
              <a:gdLst/>
              <a:ahLst/>
              <a:cxnLst/>
              <a:rect l="l" t="t" r="r" b="b"/>
              <a:pathLst>
                <a:path w="4377131" h="1924958">
                  <a:moveTo>
                    <a:pt x="0" y="0"/>
                  </a:moveTo>
                  <a:lnTo>
                    <a:pt x="4377131" y="0"/>
                  </a:lnTo>
                  <a:lnTo>
                    <a:pt x="4377131" y="1924958"/>
                  </a:lnTo>
                  <a:lnTo>
                    <a:pt x="0" y="1924958"/>
                  </a:lnTo>
                  <a:close/>
                </a:path>
              </a:pathLst>
            </a:custGeom>
            <a:solidFill>
              <a:srgbClr val="000000">
                <a:alpha val="0"/>
              </a:srgbClr>
            </a:solidFill>
            <a:ln w="133350" cap="sq">
              <a:solidFill>
                <a:srgbClr val="D7D72F"/>
              </a:solidFill>
              <a:prstDash val="solid"/>
              <a:miter/>
            </a:ln>
          </p:spPr>
          <p:txBody>
            <a:bodyPr/>
            <a:lstStyle/>
            <a:p>
              <a:endParaRPr lang="es-AR" noProof="0" dirty="0"/>
            </a:p>
          </p:txBody>
        </p:sp>
        <p:sp>
          <p:nvSpPr>
            <p:cNvPr id="13" name="TextBox 4">
              <a:extLst>
                <a:ext uri="{FF2B5EF4-FFF2-40B4-BE49-F238E27FC236}">
                  <a16:creationId xmlns:a16="http://schemas.microsoft.com/office/drawing/2014/main" id="{747BD72C-C2A2-E5B7-2989-4D8F3E620B7D}"/>
                </a:ext>
              </a:extLst>
            </p:cNvPr>
            <p:cNvSpPr txBox="1"/>
            <p:nvPr/>
          </p:nvSpPr>
          <p:spPr>
            <a:xfrm>
              <a:off x="0" y="-38100"/>
              <a:ext cx="4377131" cy="1963058"/>
            </a:xfrm>
            <a:prstGeom prst="rect">
              <a:avLst/>
            </a:prstGeom>
          </p:spPr>
          <p:txBody>
            <a:bodyPr lIns="50800" tIns="50800" rIns="50800" bIns="50800" rtlCol="0" anchor="ctr"/>
            <a:lstStyle/>
            <a:p>
              <a:pPr algn="ctr">
                <a:lnSpc>
                  <a:spcPts val="2659"/>
                </a:lnSpc>
              </a:pPr>
              <a:endParaRPr lang="es-AR" noProof="0" dirty="0"/>
            </a:p>
          </p:txBody>
        </p:sp>
      </p:grpSp>
      <p:grpSp>
        <p:nvGrpSpPr>
          <p:cNvPr id="8" name="Group 5">
            <a:extLst>
              <a:ext uri="{FF2B5EF4-FFF2-40B4-BE49-F238E27FC236}">
                <a16:creationId xmlns:a16="http://schemas.microsoft.com/office/drawing/2014/main" id="{1609179C-1903-47CD-0A2A-6467A360B095}"/>
              </a:ext>
            </a:extLst>
          </p:cNvPr>
          <p:cNvGrpSpPr/>
          <p:nvPr/>
        </p:nvGrpSpPr>
        <p:grpSpPr>
          <a:xfrm>
            <a:off x="0" y="380427"/>
            <a:ext cx="5481177" cy="1477682"/>
            <a:chOff x="0" y="0"/>
            <a:chExt cx="1443602" cy="389184"/>
          </a:xfrm>
        </p:grpSpPr>
        <p:sp>
          <p:nvSpPr>
            <p:cNvPr id="9" name="Freeform 6">
              <a:extLst>
                <a:ext uri="{FF2B5EF4-FFF2-40B4-BE49-F238E27FC236}">
                  <a16:creationId xmlns:a16="http://schemas.microsoft.com/office/drawing/2014/main" id="{5D107AB5-627B-5A45-C2EB-28C9A8D7A36A}"/>
                </a:ext>
              </a:extLst>
            </p:cNvPr>
            <p:cNvSpPr/>
            <p:nvPr/>
          </p:nvSpPr>
          <p:spPr>
            <a:xfrm>
              <a:off x="0" y="0"/>
              <a:ext cx="1443602" cy="389184"/>
            </a:xfrm>
            <a:custGeom>
              <a:avLst/>
              <a:gdLst/>
              <a:ahLst/>
              <a:cxnLst/>
              <a:rect l="l" t="t" r="r" b="b"/>
              <a:pathLst>
                <a:path w="1443602" h="389184">
                  <a:moveTo>
                    <a:pt x="0" y="0"/>
                  </a:moveTo>
                  <a:lnTo>
                    <a:pt x="1443602" y="0"/>
                  </a:lnTo>
                  <a:lnTo>
                    <a:pt x="1443602" y="389184"/>
                  </a:lnTo>
                  <a:lnTo>
                    <a:pt x="0" y="389184"/>
                  </a:lnTo>
                  <a:close/>
                </a:path>
              </a:pathLst>
            </a:custGeom>
            <a:solidFill>
              <a:srgbClr val="D7D72F"/>
            </a:solidFill>
          </p:spPr>
          <p:txBody>
            <a:bodyPr/>
            <a:lstStyle/>
            <a:p>
              <a:endParaRPr lang="es-AR" noProof="0" dirty="0"/>
            </a:p>
          </p:txBody>
        </p:sp>
        <p:sp>
          <p:nvSpPr>
            <p:cNvPr id="10" name="TextBox 7">
              <a:extLst>
                <a:ext uri="{FF2B5EF4-FFF2-40B4-BE49-F238E27FC236}">
                  <a16:creationId xmlns:a16="http://schemas.microsoft.com/office/drawing/2014/main" id="{C9BD57AB-D478-E7BB-CA0B-26C31813EB74}"/>
                </a:ext>
              </a:extLst>
            </p:cNvPr>
            <p:cNvSpPr txBox="1"/>
            <p:nvPr/>
          </p:nvSpPr>
          <p:spPr>
            <a:xfrm>
              <a:off x="0" y="-38100"/>
              <a:ext cx="1443602" cy="427284"/>
            </a:xfrm>
            <a:prstGeom prst="rect">
              <a:avLst/>
            </a:prstGeom>
          </p:spPr>
          <p:txBody>
            <a:bodyPr lIns="50800" tIns="50800" rIns="50800" bIns="50800" rtlCol="0" anchor="ctr"/>
            <a:lstStyle/>
            <a:p>
              <a:pPr algn="ctr">
                <a:lnSpc>
                  <a:spcPts val="2659"/>
                </a:lnSpc>
              </a:pPr>
              <a:endParaRPr lang="es-AR" noProof="0" dirty="0"/>
            </a:p>
          </p:txBody>
        </p:sp>
      </p:grpSp>
      <p:grpSp>
        <p:nvGrpSpPr>
          <p:cNvPr id="2" name="Group 2"/>
          <p:cNvGrpSpPr/>
          <p:nvPr/>
        </p:nvGrpSpPr>
        <p:grpSpPr>
          <a:xfrm>
            <a:off x="1" y="2171700"/>
            <a:ext cx="16002000" cy="8115300"/>
            <a:chOff x="0" y="0"/>
            <a:chExt cx="3959899" cy="1798331"/>
          </a:xfrm>
        </p:grpSpPr>
        <p:sp>
          <p:nvSpPr>
            <p:cNvPr id="3" name="Freeform 3"/>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4" name="TextBox 4"/>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5" name="TextBox 5"/>
          <p:cNvSpPr txBox="1"/>
          <p:nvPr/>
        </p:nvSpPr>
        <p:spPr>
          <a:xfrm>
            <a:off x="0" y="513846"/>
            <a:ext cx="5481177" cy="1254511"/>
          </a:xfrm>
          <a:prstGeom prst="rect">
            <a:avLst/>
          </a:prstGeom>
        </p:spPr>
        <p:txBody>
          <a:bodyPr wrap="square" lIns="0" tIns="0" rIns="0" bIns="0" rtlCol="0" anchor="t">
            <a:spAutoFit/>
          </a:bodyPr>
          <a:lstStyle/>
          <a:p>
            <a:pPr algn="ctr">
              <a:lnSpc>
                <a:spcPts val="5039"/>
              </a:lnSpc>
              <a:spcBef>
                <a:spcPct val="0"/>
              </a:spcBef>
            </a:pPr>
            <a:r>
              <a:rPr lang="es-AR" sz="4000" b="1" spc="1331"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Montserrat"/>
              </a:rPr>
              <a:t>SOLUCIONES BRINDADAS</a:t>
            </a:r>
          </a:p>
        </p:txBody>
      </p:sp>
      <p:sp>
        <p:nvSpPr>
          <p:cNvPr id="6" name="TextBox 6"/>
          <p:cNvSpPr txBox="1"/>
          <p:nvPr/>
        </p:nvSpPr>
        <p:spPr>
          <a:xfrm>
            <a:off x="228600" y="2476500"/>
            <a:ext cx="15773401" cy="6463308"/>
          </a:xfrm>
          <a:prstGeom prst="rect">
            <a:avLst/>
          </a:prstGeom>
        </p:spPr>
        <p:txBody>
          <a:bodyPr wrap="square" lIns="0" tIns="0" rIns="0" bIns="0" rtlCol="0" anchor="t">
            <a:spAutoFit/>
          </a:bodyPr>
          <a:lstStyle/>
          <a:p>
            <a:r>
              <a:rPr lang="es-AR" sz="2800" b="1" noProof="0" dirty="0"/>
              <a:t>1. No saber con claridad cuándo cruzar</a:t>
            </a:r>
          </a:p>
          <a:p>
            <a:r>
              <a:rPr lang="es-AR" sz="2800" noProof="0" dirty="0"/>
              <a:t>A muchas personas con visión reducida les cuesta ver el semáforo peatonal o distinguir cuándo es seguro avanzar.</a:t>
            </a:r>
          </a:p>
          <a:p>
            <a:endParaRPr lang="es-AR" sz="2800" noProof="0" dirty="0"/>
          </a:p>
          <a:p>
            <a:r>
              <a:rPr lang="es-AR" sz="2800" b="1" noProof="0" dirty="0"/>
              <a:t>2. Mayor riesgo al moverse en calles y avenidas</a:t>
            </a:r>
          </a:p>
          <a:p>
            <a:r>
              <a:rPr lang="es-AR" sz="2800" noProof="0" dirty="0"/>
              <a:t>Al no tener información clara, aumenta la posibilidad de accidentes o situaciones inseguras.</a:t>
            </a:r>
          </a:p>
          <a:p>
            <a:endParaRPr lang="es-AR" sz="2800" noProof="0" dirty="0"/>
          </a:p>
          <a:p>
            <a:r>
              <a:rPr lang="es-AR" sz="2800" b="1" noProof="0" dirty="0"/>
              <a:t>3. Falta de opciones accesibles en la mayoría de los cruces</a:t>
            </a:r>
          </a:p>
          <a:p>
            <a:r>
              <a:rPr lang="es-AR" sz="2800" noProof="0" dirty="0"/>
              <a:t>Los semáforos sonoros existen, pero no son comunes y no están en todos los lugares donde hacen falta.</a:t>
            </a:r>
          </a:p>
          <a:p>
            <a:endParaRPr lang="es-AR" sz="2800" noProof="0" dirty="0"/>
          </a:p>
          <a:p>
            <a:r>
              <a:rPr lang="es-AR" sz="2800" b="1" noProof="0" dirty="0"/>
              <a:t>4. Tener que depender de otra persona para cruzar</a:t>
            </a:r>
          </a:p>
          <a:p>
            <a:r>
              <a:rPr lang="es-AR" sz="2800" noProof="0" dirty="0"/>
              <a:t>En muchos casos necesitan ayuda para moverse en zonas desconocidas o con mucho tránsito.</a:t>
            </a:r>
          </a:p>
          <a:p>
            <a:endParaRPr lang="es-AR" sz="2800" noProof="0" dirty="0"/>
          </a:p>
          <a:p>
            <a:r>
              <a:rPr lang="es-AR" sz="2800" b="1" noProof="0" dirty="0"/>
              <a:t>5. No recibir una señal clara y rápida</a:t>
            </a:r>
          </a:p>
          <a:p>
            <a:r>
              <a:rPr lang="es-AR" sz="2800" noProof="0" dirty="0"/>
              <a:t>Sin una indicación sencilla y directa, cuesta saber cuándo es el momento seguro para cruzar.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F662E-8011-CEE2-61F5-1682553CD39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6B35D53-149B-29E2-3667-9B369CC84414}"/>
              </a:ext>
            </a:extLst>
          </p:cNvPr>
          <p:cNvGrpSpPr/>
          <p:nvPr/>
        </p:nvGrpSpPr>
        <p:grpSpPr>
          <a:xfrm>
            <a:off x="1028700" y="3762183"/>
            <a:ext cx="16230600" cy="2762634"/>
            <a:chOff x="0" y="0"/>
            <a:chExt cx="4274726" cy="727607"/>
          </a:xfrm>
        </p:grpSpPr>
        <p:sp>
          <p:nvSpPr>
            <p:cNvPr id="3" name="Freeform 3">
              <a:extLst>
                <a:ext uri="{FF2B5EF4-FFF2-40B4-BE49-F238E27FC236}">
                  <a16:creationId xmlns:a16="http://schemas.microsoft.com/office/drawing/2014/main" id="{9085B7CD-1B63-DE0B-B8C6-14F7439E2C78}"/>
                </a:ext>
              </a:extLst>
            </p:cNvPr>
            <p:cNvSpPr/>
            <p:nvPr/>
          </p:nvSpPr>
          <p:spPr>
            <a:xfrm>
              <a:off x="0" y="0"/>
              <a:ext cx="4274726" cy="727607"/>
            </a:xfrm>
            <a:custGeom>
              <a:avLst/>
              <a:gdLst/>
              <a:ahLst/>
              <a:cxnLst/>
              <a:rect l="l" t="t" r="r" b="b"/>
              <a:pathLst>
                <a:path w="4274726" h="727607">
                  <a:moveTo>
                    <a:pt x="0" y="0"/>
                  </a:moveTo>
                  <a:lnTo>
                    <a:pt x="4274726" y="0"/>
                  </a:lnTo>
                  <a:lnTo>
                    <a:pt x="4274726" y="727607"/>
                  </a:lnTo>
                  <a:lnTo>
                    <a:pt x="0" y="727607"/>
                  </a:lnTo>
                  <a:close/>
                </a:path>
              </a:pathLst>
            </a:custGeom>
            <a:solidFill>
              <a:srgbClr val="D7D72F"/>
            </a:solidFill>
          </p:spPr>
          <p:txBody>
            <a:bodyPr/>
            <a:lstStyle/>
            <a:p>
              <a:endParaRPr lang="es-AR" noProof="0" dirty="0"/>
            </a:p>
          </p:txBody>
        </p:sp>
        <p:sp>
          <p:nvSpPr>
            <p:cNvPr id="4" name="TextBox 4">
              <a:extLst>
                <a:ext uri="{FF2B5EF4-FFF2-40B4-BE49-F238E27FC236}">
                  <a16:creationId xmlns:a16="http://schemas.microsoft.com/office/drawing/2014/main" id="{F554D380-08B7-1E89-2963-67DF2C7F8E1C}"/>
                </a:ext>
              </a:extLst>
            </p:cNvPr>
            <p:cNvSpPr txBox="1"/>
            <p:nvPr/>
          </p:nvSpPr>
          <p:spPr>
            <a:xfrm>
              <a:off x="0" y="-38100"/>
              <a:ext cx="4274726" cy="765707"/>
            </a:xfrm>
            <a:prstGeom prst="rect">
              <a:avLst/>
            </a:prstGeom>
          </p:spPr>
          <p:txBody>
            <a:bodyPr lIns="50800" tIns="50800" rIns="50800" bIns="50800" rtlCol="0" anchor="ctr"/>
            <a:lstStyle/>
            <a:p>
              <a:pPr algn="ctr">
                <a:lnSpc>
                  <a:spcPts val="2659"/>
                </a:lnSpc>
              </a:pPr>
              <a:endParaRPr lang="es-AR" noProof="0" dirty="0"/>
            </a:p>
          </p:txBody>
        </p:sp>
      </p:grpSp>
      <p:sp>
        <p:nvSpPr>
          <p:cNvPr id="5" name="TextBox 5">
            <a:extLst>
              <a:ext uri="{FF2B5EF4-FFF2-40B4-BE49-F238E27FC236}">
                <a16:creationId xmlns:a16="http://schemas.microsoft.com/office/drawing/2014/main" id="{07117579-0743-5EA2-5EAF-07250E46FFC5}"/>
              </a:ext>
            </a:extLst>
          </p:cNvPr>
          <p:cNvSpPr txBox="1"/>
          <p:nvPr/>
        </p:nvSpPr>
        <p:spPr>
          <a:xfrm>
            <a:off x="3094166" y="4520565"/>
            <a:ext cx="12099668" cy="1282402"/>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Semi-Bold"/>
                <a:ea typeface="Montserrat Semi-Bold"/>
                <a:cs typeface="Montserrat Semi-Bold"/>
                <a:sym typeface="Montserrat Semi-Bold"/>
              </a:rPr>
              <a:t>PROBLEMAS EN EL PROCESO</a:t>
            </a:r>
          </a:p>
        </p:txBody>
      </p:sp>
      <p:sp>
        <p:nvSpPr>
          <p:cNvPr id="6" name="TextBox 6">
            <a:extLst>
              <a:ext uri="{FF2B5EF4-FFF2-40B4-BE49-F238E27FC236}">
                <a16:creationId xmlns:a16="http://schemas.microsoft.com/office/drawing/2014/main" id="{CE155230-16DE-E2C2-9437-D45650843A67}"/>
              </a:ext>
            </a:extLst>
          </p:cNvPr>
          <p:cNvSpPr txBox="1"/>
          <p:nvPr/>
        </p:nvSpPr>
        <p:spPr>
          <a:xfrm>
            <a:off x="3094166" y="7474434"/>
            <a:ext cx="12099668" cy="645794"/>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Semi-Bold"/>
                <a:ea typeface="Montserrat Semi-Bold"/>
                <a:cs typeface="Montserrat Semi-Bold"/>
                <a:sym typeface="Montserrat Semi-Bold"/>
              </a:rPr>
              <a:t>GRANATA, JOAQUIN</a:t>
            </a:r>
          </a:p>
        </p:txBody>
      </p:sp>
    </p:spTree>
    <p:extLst>
      <p:ext uri="{BB962C8B-B14F-4D97-AF65-F5344CB8AC3E}">
        <p14:creationId xmlns:p14="http://schemas.microsoft.com/office/powerpoint/2010/main" val="645996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53D3E-75A8-F204-EB57-3C9008014EB5}"/>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A846CDD5-AE98-5A69-CC80-FDF5F9352ED8}"/>
              </a:ext>
            </a:extLst>
          </p:cNvPr>
          <p:cNvGrpSpPr/>
          <p:nvPr/>
        </p:nvGrpSpPr>
        <p:grpSpPr>
          <a:xfrm>
            <a:off x="0" y="380427"/>
            <a:ext cx="6505806" cy="1477682"/>
            <a:chOff x="0" y="0"/>
            <a:chExt cx="1443602" cy="389184"/>
          </a:xfrm>
        </p:grpSpPr>
        <p:sp>
          <p:nvSpPr>
            <p:cNvPr id="6" name="Freeform 6">
              <a:extLst>
                <a:ext uri="{FF2B5EF4-FFF2-40B4-BE49-F238E27FC236}">
                  <a16:creationId xmlns:a16="http://schemas.microsoft.com/office/drawing/2014/main" id="{9CA3CF5A-4274-D0DA-E788-D553CE4EC866}"/>
                </a:ext>
              </a:extLst>
            </p:cNvPr>
            <p:cNvSpPr/>
            <p:nvPr/>
          </p:nvSpPr>
          <p:spPr>
            <a:xfrm>
              <a:off x="0" y="0"/>
              <a:ext cx="1443602" cy="389184"/>
            </a:xfrm>
            <a:custGeom>
              <a:avLst/>
              <a:gdLst/>
              <a:ahLst/>
              <a:cxnLst/>
              <a:rect l="l" t="t" r="r" b="b"/>
              <a:pathLst>
                <a:path w="1443602" h="389184">
                  <a:moveTo>
                    <a:pt x="0" y="0"/>
                  </a:moveTo>
                  <a:lnTo>
                    <a:pt x="1443602" y="0"/>
                  </a:lnTo>
                  <a:lnTo>
                    <a:pt x="1443602" y="389184"/>
                  </a:lnTo>
                  <a:lnTo>
                    <a:pt x="0" y="389184"/>
                  </a:lnTo>
                  <a:close/>
                </a:path>
              </a:pathLst>
            </a:custGeom>
            <a:solidFill>
              <a:srgbClr val="D7D72F"/>
            </a:solidFill>
          </p:spPr>
          <p:txBody>
            <a:bodyPr/>
            <a:lstStyle/>
            <a:p>
              <a:endParaRPr lang="es-AR" noProof="0" dirty="0"/>
            </a:p>
          </p:txBody>
        </p:sp>
        <p:sp>
          <p:nvSpPr>
            <p:cNvPr id="7" name="TextBox 7">
              <a:extLst>
                <a:ext uri="{FF2B5EF4-FFF2-40B4-BE49-F238E27FC236}">
                  <a16:creationId xmlns:a16="http://schemas.microsoft.com/office/drawing/2014/main" id="{9778F8C4-B6CB-C5D6-EA59-1340C73B4771}"/>
                </a:ext>
              </a:extLst>
            </p:cNvPr>
            <p:cNvSpPr txBox="1"/>
            <p:nvPr/>
          </p:nvSpPr>
          <p:spPr>
            <a:xfrm>
              <a:off x="0" y="-38100"/>
              <a:ext cx="1443602" cy="427284"/>
            </a:xfrm>
            <a:prstGeom prst="rect">
              <a:avLst/>
            </a:prstGeom>
          </p:spPr>
          <p:txBody>
            <a:bodyPr lIns="50800" tIns="50800" rIns="50800" bIns="50800" rtlCol="0" anchor="ctr"/>
            <a:lstStyle/>
            <a:p>
              <a:pPr algn="ctr">
                <a:lnSpc>
                  <a:spcPts val="2659"/>
                </a:lnSpc>
              </a:pPr>
              <a:endParaRPr lang="es-AR" noProof="0" dirty="0"/>
            </a:p>
          </p:txBody>
        </p:sp>
      </p:grpSp>
      <p:sp>
        <p:nvSpPr>
          <p:cNvPr id="8" name="TextBox 8">
            <a:extLst>
              <a:ext uri="{FF2B5EF4-FFF2-40B4-BE49-F238E27FC236}">
                <a16:creationId xmlns:a16="http://schemas.microsoft.com/office/drawing/2014/main" id="{429B22FF-A8F7-7377-DD1C-92EB87BF414C}"/>
              </a:ext>
            </a:extLst>
          </p:cNvPr>
          <p:cNvSpPr txBox="1"/>
          <p:nvPr/>
        </p:nvSpPr>
        <p:spPr>
          <a:xfrm>
            <a:off x="157168" y="574140"/>
            <a:ext cx="6348638" cy="1282402"/>
          </a:xfrm>
          <a:prstGeom prst="rect">
            <a:avLst/>
          </a:prstGeom>
        </p:spPr>
        <p:txBody>
          <a:bodyPr wrap="square" lIns="0" tIns="0" rIns="0" bIns="0" rtlCol="0" anchor="t">
            <a:spAutoFit/>
          </a:bodyPr>
          <a:lstStyle/>
          <a:p>
            <a:pPr algn="l">
              <a:lnSpc>
                <a:spcPts val="5039"/>
              </a:lnSpc>
              <a:spcBef>
                <a:spcPct val="0"/>
              </a:spcBef>
            </a:pPr>
            <a:r>
              <a:rPr lang="es-AR" sz="4499" b="1" spc="1331"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Montserrat"/>
              </a:rPr>
              <a:t>PROBLEMAS</a:t>
            </a:r>
            <a:r>
              <a:rPr lang="es-AR" sz="4499" b="1" spc="1331" noProof="0" dirty="0">
                <a:solidFill>
                  <a:srgbClr val="000000"/>
                </a:solidFill>
                <a:latin typeface="Montserrat"/>
                <a:ea typeface="Montserrat"/>
                <a:cs typeface="Montserrat"/>
                <a:sym typeface="Montserrat"/>
              </a:rPr>
              <a:t> Y SOLUCIONES</a:t>
            </a:r>
          </a:p>
        </p:txBody>
      </p:sp>
      <p:grpSp>
        <p:nvGrpSpPr>
          <p:cNvPr id="9" name="Group 9">
            <a:extLst>
              <a:ext uri="{FF2B5EF4-FFF2-40B4-BE49-F238E27FC236}">
                <a16:creationId xmlns:a16="http://schemas.microsoft.com/office/drawing/2014/main" id="{3C28F201-7DBC-A25A-508E-7A23F2000615}"/>
              </a:ext>
            </a:extLst>
          </p:cNvPr>
          <p:cNvGrpSpPr/>
          <p:nvPr/>
        </p:nvGrpSpPr>
        <p:grpSpPr>
          <a:xfrm>
            <a:off x="0" y="2195748"/>
            <a:ext cx="18288000" cy="8091252"/>
            <a:chOff x="0" y="0"/>
            <a:chExt cx="3959899" cy="1798331"/>
          </a:xfrm>
        </p:grpSpPr>
        <p:sp>
          <p:nvSpPr>
            <p:cNvPr id="10" name="Freeform 10">
              <a:extLst>
                <a:ext uri="{FF2B5EF4-FFF2-40B4-BE49-F238E27FC236}">
                  <a16:creationId xmlns:a16="http://schemas.microsoft.com/office/drawing/2014/main" id="{845A51E7-26AC-19E0-1B3E-B1748D0474AE}"/>
                </a:ext>
              </a:extLst>
            </p:cNvPr>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11" name="TextBox 11">
              <a:extLst>
                <a:ext uri="{FF2B5EF4-FFF2-40B4-BE49-F238E27FC236}">
                  <a16:creationId xmlns:a16="http://schemas.microsoft.com/office/drawing/2014/main" id="{FC22723C-7526-131B-5C0D-1D0A8FC51050}"/>
                </a:ext>
              </a:extLst>
            </p:cNvPr>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12" name="TextBox 12">
            <a:extLst>
              <a:ext uri="{FF2B5EF4-FFF2-40B4-BE49-F238E27FC236}">
                <a16:creationId xmlns:a16="http://schemas.microsoft.com/office/drawing/2014/main" id="{E0569B46-CA10-BB13-62D2-5D4A29C5D4B7}"/>
              </a:ext>
            </a:extLst>
          </p:cNvPr>
          <p:cNvSpPr txBox="1"/>
          <p:nvPr/>
        </p:nvSpPr>
        <p:spPr>
          <a:xfrm>
            <a:off x="152400" y="2472313"/>
            <a:ext cx="4428893" cy="583173"/>
          </a:xfrm>
          <a:prstGeom prst="rect">
            <a:avLst/>
          </a:prstGeom>
        </p:spPr>
        <p:txBody>
          <a:bodyPr lIns="0" tIns="0" rIns="0" bIns="0" rtlCol="0" anchor="t">
            <a:spAutoFit/>
          </a:bodyPr>
          <a:lstStyle/>
          <a:p>
            <a:pPr algn="l">
              <a:lnSpc>
                <a:spcPts val="5095"/>
              </a:lnSpc>
            </a:pPr>
            <a:r>
              <a:rPr lang="es-AR" sz="2799" b="1" u="sng" spc="257"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Bold"/>
              </a:rPr>
              <a:t>Modelo entrenado</a:t>
            </a:r>
          </a:p>
        </p:txBody>
      </p:sp>
      <p:sp>
        <p:nvSpPr>
          <p:cNvPr id="13" name="TextBox 13">
            <a:extLst>
              <a:ext uri="{FF2B5EF4-FFF2-40B4-BE49-F238E27FC236}">
                <a16:creationId xmlns:a16="http://schemas.microsoft.com/office/drawing/2014/main" id="{B1EE8EE6-BF97-7832-8DBF-6B52AD0C0509}"/>
              </a:ext>
            </a:extLst>
          </p:cNvPr>
          <p:cNvSpPr txBox="1"/>
          <p:nvPr/>
        </p:nvSpPr>
        <p:spPr>
          <a:xfrm>
            <a:off x="6307155" y="2468769"/>
            <a:ext cx="5276385" cy="583173"/>
          </a:xfrm>
          <a:prstGeom prst="rect">
            <a:avLst/>
          </a:prstGeom>
        </p:spPr>
        <p:txBody>
          <a:bodyPr wrap="square" lIns="0" tIns="0" rIns="0" bIns="0" rtlCol="0" anchor="t">
            <a:spAutoFit/>
          </a:bodyPr>
          <a:lstStyle/>
          <a:p>
            <a:pPr algn="l">
              <a:lnSpc>
                <a:spcPts val="5095"/>
              </a:lnSpc>
            </a:pPr>
            <a:r>
              <a:rPr lang="es-AR" sz="2799" b="1" u="sng" spc="257"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Bold"/>
              </a:rPr>
              <a:t>Servidor y delay</a:t>
            </a:r>
          </a:p>
        </p:txBody>
      </p:sp>
      <p:sp>
        <p:nvSpPr>
          <p:cNvPr id="14" name="TextBox 14">
            <a:extLst>
              <a:ext uri="{FF2B5EF4-FFF2-40B4-BE49-F238E27FC236}">
                <a16:creationId xmlns:a16="http://schemas.microsoft.com/office/drawing/2014/main" id="{522A9192-44E5-971D-34CA-B2893DE7552F}"/>
              </a:ext>
            </a:extLst>
          </p:cNvPr>
          <p:cNvSpPr txBox="1"/>
          <p:nvPr/>
        </p:nvSpPr>
        <p:spPr>
          <a:xfrm>
            <a:off x="173868" y="3336107"/>
            <a:ext cx="4385955" cy="5982535"/>
          </a:xfrm>
          <a:prstGeom prst="rect">
            <a:avLst/>
          </a:prstGeom>
        </p:spPr>
        <p:txBody>
          <a:bodyPr wrap="square" lIns="0" tIns="0" rIns="0" bIns="0" rtlCol="0" anchor="t">
            <a:spAutoFit/>
          </a:bodyPr>
          <a:lstStyle/>
          <a:p>
            <a:pPr algn="l">
              <a:lnSpc>
                <a:spcPts val="3919"/>
              </a:lnSpc>
            </a:pPr>
            <a:r>
              <a:rPr lang="es-AR" sz="3200"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Para que el proyecto funcione, necesitamos que la raspberry identifique los objetos. Para esto, usamos un modelo de inferencia. Teníamos uno preparado, pero resulto ser muy pesado. Optamos por usar un modelo pre-entrenado mas liviano.</a:t>
            </a:r>
          </a:p>
        </p:txBody>
      </p:sp>
      <p:sp>
        <p:nvSpPr>
          <p:cNvPr id="15" name="TextBox 15">
            <a:extLst>
              <a:ext uri="{FF2B5EF4-FFF2-40B4-BE49-F238E27FC236}">
                <a16:creationId xmlns:a16="http://schemas.microsoft.com/office/drawing/2014/main" id="{4DAFD8CB-022C-C67E-0037-96468338E027}"/>
              </a:ext>
            </a:extLst>
          </p:cNvPr>
          <p:cNvSpPr txBox="1"/>
          <p:nvPr/>
        </p:nvSpPr>
        <p:spPr>
          <a:xfrm>
            <a:off x="6307155" y="3336107"/>
            <a:ext cx="4879082" cy="5482398"/>
          </a:xfrm>
          <a:prstGeom prst="rect">
            <a:avLst/>
          </a:prstGeom>
        </p:spPr>
        <p:txBody>
          <a:bodyPr lIns="0" tIns="0" rIns="0" bIns="0" rtlCol="0" anchor="t">
            <a:spAutoFit/>
          </a:bodyPr>
          <a:lstStyle/>
          <a:p>
            <a:pPr>
              <a:lnSpc>
                <a:spcPts val="3919"/>
              </a:lnSpc>
            </a:pPr>
            <a:r>
              <a:rPr lang="es-AR" sz="3200"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La primera idea consistía de un servidor. Al probarlo, encontramos problemas con el delay que afectaba la inferencia. No teníamos una solución que permitiera usar el servidor sin delay, por lo que optamos por usar la raspberry encima.</a:t>
            </a:r>
          </a:p>
        </p:txBody>
      </p:sp>
      <p:sp>
        <p:nvSpPr>
          <p:cNvPr id="16" name="TextBox 16">
            <a:extLst>
              <a:ext uri="{FF2B5EF4-FFF2-40B4-BE49-F238E27FC236}">
                <a16:creationId xmlns:a16="http://schemas.microsoft.com/office/drawing/2014/main" id="{1B91AAFE-5C61-ACA0-E4A8-9399093F8D90}"/>
              </a:ext>
            </a:extLst>
          </p:cNvPr>
          <p:cNvSpPr txBox="1"/>
          <p:nvPr/>
        </p:nvSpPr>
        <p:spPr>
          <a:xfrm>
            <a:off x="13199626" y="2468768"/>
            <a:ext cx="4428893" cy="583173"/>
          </a:xfrm>
          <a:prstGeom prst="rect">
            <a:avLst/>
          </a:prstGeom>
        </p:spPr>
        <p:txBody>
          <a:bodyPr wrap="square" lIns="0" tIns="0" rIns="0" bIns="0" rtlCol="0" anchor="t">
            <a:spAutoFit/>
          </a:bodyPr>
          <a:lstStyle/>
          <a:p>
            <a:pPr algn="l">
              <a:lnSpc>
                <a:spcPts val="5095"/>
              </a:lnSpc>
            </a:pPr>
            <a:r>
              <a:rPr lang="es-AR" sz="2799" b="1" u="sng" spc="257"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Bold"/>
              </a:rPr>
              <a:t>Funciones faltantes</a:t>
            </a:r>
          </a:p>
        </p:txBody>
      </p:sp>
      <p:sp>
        <p:nvSpPr>
          <p:cNvPr id="17" name="TextBox 17">
            <a:extLst>
              <a:ext uri="{FF2B5EF4-FFF2-40B4-BE49-F238E27FC236}">
                <a16:creationId xmlns:a16="http://schemas.microsoft.com/office/drawing/2014/main" id="{9081F728-3310-F227-8A5E-D6995677D1AA}"/>
              </a:ext>
            </a:extLst>
          </p:cNvPr>
          <p:cNvSpPr txBox="1"/>
          <p:nvPr/>
        </p:nvSpPr>
        <p:spPr>
          <a:xfrm>
            <a:off x="13199626" y="3336107"/>
            <a:ext cx="5012174" cy="5482398"/>
          </a:xfrm>
          <a:prstGeom prst="rect">
            <a:avLst/>
          </a:prstGeom>
        </p:spPr>
        <p:txBody>
          <a:bodyPr wrap="square" lIns="0" tIns="0" rIns="0" bIns="0" rtlCol="0" anchor="t">
            <a:spAutoFit/>
          </a:bodyPr>
          <a:lstStyle/>
          <a:p>
            <a:pPr algn="l">
              <a:lnSpc>
                <a:spcPts val="3919"/>
              </a:lnSpc>
            </a:pPr>
            <a:r>
              <a:rPr lang="es-AR" sz="3200"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En nuestras primeras ideas, el proyecto venia con la capacidad de leer mapas o incluso recordar personas. Mientras avanzábamos con el proyecto, decidimos que estas funciones no eran rentables. Al final, algunas de estas ideas fueron descartadas o movidas.</a:t>
            </a:r>
          </a:p>
        </p:txBody>
      </p:sp>
    </p:spTree>
    <p:extLst>
      <p:ext uri="{BB962C8B-B14F-4D97-AF65-F5344CB8AC3E}">
        <p14:creationId xmlns:p14="http://schemas.microsoft.com/office/powerpoint/2010/main" val="4220955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7A361-A6CA-1EEC-7367-FFF809DA30A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428CA2E-7FE4-116F-2D48-2B2FC3447BFD}"/>
              </a:ext>
            </a:extLst>
          </p:cNvPr>
          <p:cNvGrpSpPr/>
          <p:nvPr/>
        </p:nvGrpSpPr>
        <p:grpSpPr>
          <a:xfrm>
            <a:off x="1028700" y="3762183"/>
            <a:ext cx="16230600" cy="2762634"/>
            <a:chOff x="0" y="0"/>
            <a:chExt cx="4274726" cy="727607"/>
          </a:xfrm>
        </p:grpSpPr>
        <p:sp>
          <p:nvSpPr>
            <p:cNvPr id="3" name="Freeform 3">
              <a:extLst>
                <a:ext uri="{FF2B5EF4-FFF2-40B4-BE49-F238E27FC236}">
                  <a16:creationId xmlns:a16="http://schemas.microsoft.com/office/drawing/2014/main" id="{909CEE51-AD01-8D02-4AB7-9F1838FAACA3}"/>
                </a:ext>
              </a:extLst>
            </p:cNvPr>
            <p:cNvSpPr/>
            <p:nvPr/>
          </p:nvSpPr>
          <p:spPr>
            <a:xfrm>
              <a:off x="0" y="0"/>
              <a:ext cx="4274726" cy="727607"/>
            </a:xfrm>
            <a:custGeom>
              <a:avLst/>
              <a:gdLst/>
              <a:ahLst/>
              <a:cxnLst/>
              <a:rect l="l" t="t" r="r" b="b"/>
              <a:pathLst>
                <a:path w="4274726" h="727607">
                  <a:moveTo>
                    <a:pt x="0" y="0"/>
                  </a:moveTo>
                  <a:lnTo>
                    <a:pt x="4274726" y="0"/>
                  </a:lnTo>
                  <a:lnTo>
                    <a:pt x="4274726" y="727607"/>
                  </a:lnTo>
                  <a:lnTo>
                    <a:pt x="0" y="727607"/>
                  </a:lnTo>
                  <a:close/>
                </a:path>
              </a:pathLst>
            </a:custGeom>
            <a:solidFill>
              <a:srgbClr val="D7D72F"/>
            </a:solidFill>
          </p:spPr>
          <p:txBody>
            <a:bodyPr/>
            <a:lstStyle/>
            <a:p>
              <a:endParaRPr lang="es-AR" noProof="0" dirty="0"/>
            </a:p>
          </p:txBody>
        </p:sp>
        <p:sp>
          <p:nvSpPr>
            <p:cNvPr id="4" name="TextBox 4">
              <a:extLst>
                <a:ext uri="{FF2B5EF4-FFF2-40B4-BE49-F238E27FC236}">
                  <a16:creationId xmlns:a16="http://schemas.microsoft.com/office/drawing/2014/main" id="{CE2E1D99-BD05-12B6-0D9B-E10EC604AEDD}"/>
                </a:ext>
              </a:extLst>
            </p:cNvPr>
            <p:cNvSpPr txBox="1"/>
            <p:nvPr/>
          </p:nvSpPr>
          <p:spPr>
            <a:xfrm>
              <a:off x="0" y="-38100"/>
              <a:ext cx="4274726" cy="765707"/>
            </a:xfrm>
            <a:prstGeom prst="rect">
              <a:avLst/>
            </a:prstGeom>
          </p:spPr>
          <p:txBody>
            <a:bodyPr lIns="50800" tIns="50800" rIns="50800" bIns="50800" rtlCol="0" anchor="ctr"/>
            <a:lstStyle/>
            <a:p>
              <a:pPr algn="ctr">
                <a:lnSpc>
                  <a:spcPts val="2659"/>
                </a:lnSpc>
              </a:pPr>
              <a:endParaRPr lang="es-AR" noProof="0" dirty="0"/>
            </a:p>
          </p:txBody>
        </p:sp>
      </p:grpSp>
      <p:sp>
        <p:nvSpPr>
          <p:cNvPr id="5" name="TextBox 5">
            <a:extLst>
              <a:ext uri="{FF2B5EF4-FFF2-40B4-BE49-F238E27FC236}">
                <a16:creationId xmlns:a16="http://schemas.microsoft.com/office/drawing/2014/main" id="{F7659F76-056D-0079-D459-8F4523B2C0DA}"/>
              </a:ext>
            </a:extLst>
          </p:cNvPr>
          <p:cNvSpPr txBox="1"/>
          <p:nvPr/>
        </p:nvSpPr>
        <p:spPr>
          <a:xfrm>
            <a:off x="3094166" y="4045756"/>
            <a:ext cx="12099668" cy="645794"/>
          </a:xfrm>
          <a:prstGeom prst="rect">
            <a:avLst/>
          </a:prstGeom>
        </p:spPr>
        <p:txBody>
          <a:bodyPr lIns="0" tIns="0" rIns="0" bIns="0" rtlCol="0" anchor="t">
            <a:spAutoFit/>
          </a:bodyPr>
          <a:lstStyle/>
          <a:p>
            <a:pPr algn="ctr">
              <a:lnSpc>
                <a:spcPts val="5039"/>
              </a:lnSpc>
              <a:spcBef>
                <a:spcPct val="0"/>
              </a:spcBef>
            </a:pPr>
            <a:r>
              <a:rPr lang="es-AR" sz="4499" b="1" u="sng" spc="1331" noProof="0" dirty="0">
                <a:solidFill>
                  <a:srgbClr val="000000"/>
                </a:solidFill>
                <a:latin typeface="Montserrat Semi-Bold"/>
                <a:ea typeface="Montserrat Semi-Bold"/>
                <a:cs typeface="Montserrat Semi-Bold"/>
                <a:sym typeface="Montserrat Semi-Bold"/>
              </a:rPr>
              <a:t>SPONSOR</a:t>
            </a:r>
          </a:p>
        </p:txBody>
      </p:sp>
      <p:sp>
        <p:nvSpPr>
          <p:cNvPr id="6" name="TextBox 6">
            <a:extLst>
              <a:ext uri="{FF2B5EF4-FFF2-40B4-BE49-F238E27FC236}">
                <a16:creationId xmlns:a16="http://schemas.microsoft.com/office/drawing/2014/main" id="{443BDA7F-4C82-6A30-0742-5B8A292C351F}"/>
              </a:ext>
            </a:extLst>
          </p:cNvPr>
          <p:cNvSpPr txBox="1"/>
          <p:nvPr/>
        </p:nvSpPr>
        <p:spPr>
          <a:xfrm>
            <a:off x="3094166" y="7474434"/>
            <a:ext cx="12099668" cy="645794"/>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Semi-Bold"/>
                <a:ea typeface="Montserrat Semi-Bold"/>
                <a:cs typeface="Montserrat Semi-Bold"/>
                <a:sym typeface="Montserrat Semi-Bold"/>
              </a:rPr>
              <a:t>PAZ, BAUTISTA</a:t>
            </a:r>
          </a:p>
        </p:txBody>
      </p:sp>
      <p:sp>
        <p:nvSpPr>
          <p:cNvPr id="7" name="TextBox 5">
            <a:extLst>
              <a:ext uri="{FF2B5EF4-FFF2-40B4-BE49-F238E27FC236}">
                <a16:creationId xmlns:a16="http://schemas.microsoft.com/office/drawing/2014/main" id="{CF9AAEAE-E2DC-9372-B5EB-9D4C3AADA30B}"/>
              </a:ext>
            </a:extLst>
          </p:cNvPr>
          <p:cNvSpPr txBox="1"/>
          <p:nvPr/>
        </p:nvSpPr>
        <p:spPr>
          <a:xfrm>
            <a:off x="2309083" y="4954250"/>
            <a:ext cx="13669834" cy="1282402"/>
          </a:xfrm>
          <a:prstGeom prst="rect">
            <a:avLst/>
          </a:prstGeom>
        </p:spPr>
        <p:txBody>
          <a:bodyPr wrap="square" lIns="0" tIns="0" rIns="0" bIns="0" rtlCol="0" anchor="t">
            <a:spAutoFit/>
          </a:bodyPr>
          <a:lstStyle/>
          <a:p>
            <a:pPr algn="ctr">
              <a:lnSpc>
                <a:spcPts val="5039"/>
              </a:lnSpc>
              <a:spcBef>
                <a:spcPct val="0"/>
              </a:spcBef>
            </a:pPr>
            <a:r>
              <a:rPr lang="es-AR" sz="4499" spc="1331" noProof="0" dirty="0">
                <a:solidFill>
                  <a:srgbClr val="000000"/>
                </a:solidFill>
                <a:latin typeface="Montserrat Semi-Bold"/>
                <a:ea typeface="Montserrat Semi-Bold"/>
                <a:cs typeface="Montserrat Semi-Bold"/>
                <a:sym typeface="Montserrat Semi-Bold"/>
              </a:rPr>
              <a:t>ASAC</a:t>
            </a:r>
          </a:p>
          <a:p>
            <a:pPr algn="ctr">
              <a:lnSpc>
                <a:spcPts val="5039"/>
              </a:lnSpc>
              <a:spcBef>
                <a:spcPct val="0"/>
              </a:spcBef>
            </a:pPr>
            <a:r>
              <a:rPr lang="es-AR" sz="4499" spc="1331" noProof="0" dirty="0">
                <a:solidFill>
                  <a:srgbClr val="000000"/>
                </a:solidFill>
                <a:latin typeface="Montserrat Semi-Bold"/>
                <a:ea typeface="Montserrat Semi-Bold"/>
                <a:cs typeface="Montserrat Semi-Bold"/>
                <a:sym typeface="Montserrat Semi-Bold"/>
              </a:rPr>
              <a:t>Asociación de Ayuda al Ciego</a:t>
            </a:r>
          </a:p>
        </p:txBody>
      </p:sp>
    </p:spTree>
    <p:extLst>
      <p:ext uri="{BB962C8B-B14F-4D97-AF65-F5344CB8AC3E}">
        <p14:creationId xmlns:p14="http://schemas.microsoft.com/office/powerpoint/2010/main" val="816849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C0CCB-D62A-C12B-278E-B3F0CEACFC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EAA8B30-A03D-5311-FC40-F3711383251A}"/>
              </a:ext>
            </a:extLst>
          </p:cNvPr>
          <p:cNvGrpSpPr/>
          <p:nvPr/>
        </p:nvGrpSpPr>
        <p:grpSpPr>
          <a:xfrm>
            <a:off x="858567" y="1261517"/>
            <a:ext cx="16619419" cy="7308825"/>
            <a:chOff x="0" y="0"/>
            <a:chExt cx="4377131" cy="1924958"/>
          </a:xfrm>
        </p:grpSpPr>
        <p:sp>
          <p:nvSpPr>
            <p:cNvPr id="3" name="Freeform 3">
              <a:extLst>
                <a:ext uri="{FF2B5EF4-FFF2-40B4-BE49-F238E27FC236}">
                  <a16:creationId xmlns:a16="http://schemas.microsoft.com/office/drawing/2014/main" id="{77CD2BF0-6125-FEBC-ABAC-E42ED46F6F5B}"/>
                </a:ext>
              </a:extLst>
            </p:cNvPr>
            <p:cNvSpPr/>
            <p:nvPr/>
          </p:nvSpPr>
          <p:spPr>
            <a:xfrm>
              <a:off x="0" y="0"/>
              <a:ext cx="4377131" cy="1924958"/>
            </a:xfrm>
            <a:custGeom>
              <a:avLst/>
              <a:gdLst/>
              <a:ahLst/>
              <a:cxnLst/>
              <a:rect l="l" t="t" r="r" b="b"/>
              <a:pathLst>
                <a:path w="4377131" h="1924958">
                  <a:moveTo>
                    <a:pt x="0" y="0"/>
                  </a:moveTo>
                  <a:lnTo>
                    <a:pt x="4377131" y="0"/>
                  </a:lnTo>
                  <a:lnTo>
                    <a:pt x="4377131" y="1924958"/>
                  </a:lnTo>
                  <a:lnTo>
                    <a:pt x="0" y="1924958"/>
                  </a:lnTo>
                  <a:close/>
                </a:path>
              </a:pathLst>
            </a:custGeom>
            <a:solidFill>
              <a:srgbClr val="000000">
                <a:alpha val="0"/>
              </a:srgbClr>
            </a:solidFill>
            <a:ln w="133350" cap="sq">
              <a:solidFill>
                <a:srgbClr val="D7D72F"/>
              </a:solidFill>
              <a:prstDash val="solid"/>
              <a:miter/>
            </a:ln>
          </p:spPr>
          <p:txBody>
            <a:bodyPr/>
            <a:lstStyle/>
            <a:p>
              <a:endParaRPr lang="es-AR" noProof="0" dirty="0"/>
            </a:p>
          </p:txBody>
        </p:sp>
        <p:sp>
          <p:nvSpPr>
            <p:cNvPr id="4" name="TextBox 4">
              <a:extLst>
                <a:ext uri="{FF2B5EF4-FFF2-40B4-BE49-F238E27FC236}">
                  <a16:creationId xmlns:a16="http://schemas.microsoft.com/office/drawing/2014/main" id="{D1678B22-4ED4-CCF8-5FB9-74F9FBEE681C}"/>
                </a:ext>
              </a:extLst>
            </p:cNvPr>
            <p:cNvSpPr txBox="1"/>
            <p:nvPr/>
          </p:nvSpPr>
          <p:spPr>
            <a:xfrm>
              <a:off x="0" y="-38100"/>
              <a:ext cx="4377131" cy="1963058"/>
            </a:xfrm>
            <a:prstGeom prst="rect">
              <a:avLst/>
            </a:prstGeom>
          </p:spPr>
          <p:txBody>
            <a:bodyPr lIns="50800" tIns="50800" rIns="50800" bIns="50800" rtlCol="0" anchor="ctr"/>
            <a:lstStyle/>
            <a:p>
              <a:pPr algn="ctr">
                <a:lnSpc>
                  <a:spcPts val="2659"/>
                </a:lnSpc>
              </a:pPr>
              <a:endParaRPr lang="es-AR" noProof="0" dirty="0"/>
            </a:p>
          </p:txBody>
        </p:sp>
      </p:grpSp>
      <p:grpSp>
        <p:nvGrpSpPr>
          <p:cNvPr id="5" name="Group 5">
            <a:extLst>
              <a:ext uri="{FF2B5EF4-FFF2-40B4-BE49-F238E27FC236}">
                <a16:creationId xmlns:a16="http://schemas.microsoft.com/office/drawing/2014/main" id="{2B4CCAB6-671B-FAE0-DEA4-232FD7F037A4}"/>
              </a:ext>
            </a:extLst>
          </p:cNvPr>
          <p:cNvGrpSpPr/>
          <p:nvPr/>
        </p:nvGrpSpPr>
        <p:grpSpPr>
          <a:xfrm>
            <a:off x="1650654" y="1429579"/>
            <a:ext cx="15035243" cy="6828038"/>
            <a:chOff x="0" y="0"/>
            <a:chExt cx="3959899" cy="1798331"/>
          </a:xfrm>
        </p:grpSpPr>
        <p:sp>
          <p:nvSpPr>
            <p:cNvPr id="6" name="Freeform 6">
              <a:extLst>
                <a:ext uri="{FF2B5EF4-FFF2-40B4-BE49-F238E27FC236}">
                  <a16:creationId xmlns:a16="http://schemas.microsoft.com/office/drawing/2014/main" id="{A522A36D-1628-9FB7-1776-E432C33D2B95}"/>
                </a:ext>
              </a:extLst>
            </p:cNvPr>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7" name="TextBox 7">
              <a:extLst>
                <a:ext uri="{FF2B5EF4-FFF2-40B4-BE49-F238E27FC236}">
                  <a16:creationId xmlns:a16="http://schemas.microsoft.com/office/drawing/2014/main" id="{272A1952-4A1E-732B-E19B-6833182C6DDD}"/>
                </a:ext>
              </a:extLst>
            </p:cNvPr>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8" name="TextBox 8">
            <a:extLst>
              <a:ext uri="{FF2B5EF4-FFF2-40B4-BE49-F238E27FC236}">
                <a16:creationId xmlns:a16="http://schemas.microsoft.com/office/drawing/2014/main" id="{A5186AC1-7459-0189-0EDF-21C383ED534B}"/>
              </a:ext>
            </a:extLst>
          </p:cNvPr>
          <p:cNvSpPr txBox="1"/>
          <p:nvPr/>
        </p:nvSpPr>
        <p:spPr>
          <a:xfrm>
            <a:off x="3948575" y="2525203"/>
            <a:ext cx="10439400" cy="1923604"/>
          </a:xfrm>
          <a:prstGeom prst="rect">
            <a:avLst/>
          </a:prstGeom>
        </p:spPr>
        <p:txBody>
          <a:bodyPr wrap="square" lIns="0" tIns="0" rIns="0" bIns="0" rtlCol="0" anchor="t">
            <a:spAutoFit/>
          </a:bodyPr>
          <a:lstStyle/>
          <a:p>
            <a:pPr algn="ctr">
              <a:lnSpc>
                <a:spcPts val="5039"/>
              </a:lnSpc>
              <a:spcBef>
                <a:spcPct val="0"/>
              </a:spcBef>
            </a:pPr>
            <a:r>
              <a:rPr lang="es-AR" sz="4499" b="1" spc="1331" noProof="0" dirty="0">
                <a:solidFill>
                  <a:srgbClr val="000000"/>
                </a:solidFill>
                <a:latin typeface="Montserrat"/>
                <a:ea typeface="Montserrat"/>
                <a:cs typeface="Montserrat"/>
                <a:sym typeface="Montserrat"/>
              </a:rPr>
              <a:t>ASOCIACIÓN DE AYUDA AL CIEGO</a:t>
            </a:r>
          </a:p>
          <a:p>
            <a:pPr algn="ctr">
              <a:lnSpc>
                <a:spcPts val="5039"/>
              </a:lnSpc>
              <a:spcBef>
                <a:spcPct val="0"/>
              </a:spcBef>
            </a:pPr>
            <a:r>
              <a:rPr lang="es-AR" sz="4499" b="1" spc="1331" noProof="0" dirty="0">
                <a:solidFill>
                  <a:srgbClr val="000000"/>
                </a:solidFill>
                <a:latin typeface="Montserrat"/>
                <a:ea typeface="Montserrat"/>
                <a:cs typeface="Montserrat"/>
                <a:sym typeface="Montserrat"/>
              </a:rPr>
              <a:t>(ASAC)</a:t>
            </a:r>
          </a:p>
        </p:txBody>
      </p:sp>
      <p:sp>
        <p:nvSpPr>
          <p:cNvPr id="9" name="TextBox 9">
            <a:extLst>
              <a:ext uri="{FF2B5EF4-FFF2-40B4-BE49-F238E27FC236}">
                <a16:creationId xmlns:a16="http://schemas.microsoft.com/office/drawing/2014/main" id="{E56AC42E-1BA7-CAAC-4F9C-85BA6D5DF891}"/>
              </a:ext>
            </a:extLst>
          </p:cNvPr>
          <p:cNvSpPr txBox="1"/>
          <p:nvPr/>
        </p:nvSpPr>
        <p:spPr>
          <a:xfrm>
            <a:off x="2234075" y="4903229"/>
            <a:ext cx="13868400" cy="2462213"/>
          </a:xfrm>
          <a:prstGeom prst="rect">
            <a:avLst/>
          </a:prstGeom>
        </p:spPr>
        <p:txBody>
          <a:bodyPr wrap="square" lIns="0" tIns="0" rIns="0" bIns="0" rtlCol="0" anchor="t">
            <a:spAutoFit/>
          </a:bodyPr>
          <a:lstStyle/>
          <a:p>
            <a:pPr algn="ctr"/>
            <a:r>
              <a:rPr lang="es-AR" sz="3200" noProof="0" dirty="0">
                <a:latin typeface="Open Sans" panose="020B0606030504020204" pitchFamily="34" charset="0"/>
                <a:ea typeface="Open Sans" panose="020B0606030504020204" pitchFamily="34" charset="0"/>
                <a:cs typeface="Open Sans" panose="020B0606030504020204" pitchFamily="34" charset="0"/>
              </a:rPr>
              <a:t>La </a:t>
            </a:r>
            <a:r>
              <a:rPr lang="es-AR" sz="3200" b="1" noProof="0" dirty="0">
                <a:latin typeface="Open Sans" panose="020B0606030504020204" pitchFamily="34" charset="0"/>
                <a:ea typeface="Open Sans" panose="020B0606030504020204" pitchFamily="34" charset="0"/>
                <a:cs typeface="Open Sans" panose="020B0606030504020204" pitchFamily="34" charset="0"/>
              </a:rPr>
              <a:t>ASAC (Asociación de Ayuda al Ciego) </a:t>
            </a:r>
            <a:r>
              <a:rPr lang="es-AR" sz="3200" noProof="0" dirty="0">
                <a:latin typeface="Open Sans" panose="020B0606030504020204" pitchFamily="34" charset="0"/>
                <a:ea typeface="Open Sans" panose="020B0606030504020204" pitchFamily="34" charset="0"/>
                <a:cs typeface="Open Sans" panose="020B0606030504020204" pitchFamily="34" charset="0"/>
              </a:rPr>
              <a:t>es una organización dedicada a </a:t>
            </a:r>
            <a:r>
              <a:rPr lang="es-AR" sz="3200" b="1" noProof="0" dirty="0">
                <a:latin typeface="Open Sans" panose="020B0606030504020204" pitchFamily="34" charset="0"/>
                <a:ea typeface="Open Sans" panose="020B0606030504020204" pitchFamily="34" charset="0"/>
                <a:cs typeface="Open Sans" panose="020B0606030504020204" pitchFamily="34" charset="0"/>
              </a:rPr>
              <a:t>brindar apoyo, orientación y recursos </a:t>
            </a:r>
            <a:r>
              <a:rPr lang="es-AR" sz="3200" noProof="0" dirty="0">
                <a:latin typeface="Open Sans" panose="020B0606030504020204" pitchFamily="34" charset="0"/>
                <a:ea typeface="Open Sans" panose="020B0606030504020204" pitchFamily="34" charset="0"/>
                <a:cs typeface="Open Sans" panose="020B0606030504020204" pitchFamily="34" charset="0"/>
              </a:rPr>
              <a:t>a </a:t>
            </a:r>
            <a:r>
              <a:rPr lang="es-AR" sz="3200" b="1" noProof="0" dirty="0">
                <a:latin typeface="Open Sans" panose="020B0606030504020204" pitchFamily="34" charset="0"/>
                <a:ea typeface="Open Sans" panose="020B0606030504020204" pitchFamily="34" charset="0"/>
                <a:cs typeface="Open Sans" panose="020B0606030504020204" pitchFamily="34" charset="0"/>
              </a:rPr>
              <a:t>personas con visión nula o reducida.</a:t>
            </a:r>
            <a:r>
              <a:rPr lang="es-AR" sz="3200" noProof="0" dirty="0">
                <a:latin typeface="Open Sans" panose="020B0606030504020204" pitchFamily="34" charset="0"/>
                <a:ea typeface="Open Sans" panose="020B0606030504020204" pitchFamily="34" charset="0"/>
                <a:cs typeface="Open Sans" panose="020B0606030504020204" pitchFamily="34" charset="0"/>
              </a:rPr>
              <a:t> Además de </a:t>
            </a:r>
            <a:r>
              <a:rPr lang="es-AR" sz="3200" b="1" noProof="0" dirty="0">
                <a:latin typeface="Open Sans" panose="020B0606030504020204" pitchFamily="34" charset="0"/>
                <a:ea typeface="Open Sans" panose="020B0606030504020204" pitchFamily="34" charset="0"/>
                <a:cs typeface="Open Sans" panose="020B0606030504020204" pitchFamily="34" charset="0"/>
              </a:rPr>
              <a:t>acompañar en su vida diaria,</a:t>
            </a:r>
            <a:r>
              <a:rPr lang="es-AR" sz="3200" noProof="0" dirty="0">
                <a:latin typeface="Open Sans" panose="020B0606030504020204" pitchFamily="34" charset="0"/>
                <a:ea typeface="Open Sans" panose="020B0606030504020204" pitchFamily="34" charset="0"/>
                <a:cs typeface="Open Sans" panose="020B0606030504020204" pitchFamily="34" charset="0"/>
              </a:rPr>
              <a:t> aportan su </a:t>
            </a:r>
            <a:r>
              <a:rPr lang="es-AR" sz="3200" b="1" noProof="0" dirty="0">
                <a:latin typeface="Open Sans" panose="020B0606030504020204" pitchFamily="34" charset="0"/>
                <a:ea typeface="Open Sans" panose="020B0606030504020204" pitchFamily="34" charset="0"/>
                <a:cs typeface="Open Sans" panose="020B0606030504020204" pitchFamily="34" charset="0"/>
              </a:rPr>
              <a:t>experiencia</a:t>
            </a:r>
            <a:r>
              <a:rPr lang="es-AR" sz="3200" noProof="0" dirty="0">
                <a:latin typeface="Open Sans" panose="020B0606030504020204" pitchFamily="34" charset="0"/>
                <a:ea typeface="Open Sans" panose="020B0606030504020204" pitchFamily="34" charset="0"/>
                <a:cs typeface="Open Sans" panose="020B0606030504020204" pitchFamily="34" charset="0"/>
              </a:rPr>
              <a:t> para </a:t>
            </a:r>
            <a:r>
              <a:rPr lang="es-AR" sz="3200" b="1" noProof="0" dirty="0">
                <a:latin typeface="Open Sans" panose="020B0606030504020204" pitchFamily="34" charset="0"/>
                <a:ea typeface="Open Sans" panose="020B0606030504020204" pitchFamily="34" charset="0"/>
                <a:cs typeface="Open Sans" panose="020B0606030504020204" pitchFamily="34" charset="0"/>
              </a:rPr>
              <a:t>mejorar proyectos </a:t>
            </a:r>
            <a:r>
              <a:rPr lang="es-AR" sz="3200" noProof="0" dirty="0">
                <a:latin typeface="Open Sans" panose="020B0606030504020204" pitchFamily="34" charset="0"/>
                <a:ea typeface="Open Sans" panose="020B0606030504020204" pitchFamily="34" charset="0"/>
                <a:cs typeface="Open Sans" panose="020B0606030504020204" pitchFamily="34" charset="0"/>
              </a:rPr>
              <a:t>y herramientas destinadas a la </a:t>
            </a:r>
            <a:r>
              <a:rPr lang="es-AR" sz="3200" b="1" noProof="0" dirty="0">
                <a:latin typeface="Open Sans" panose="020B0606030504020204" pitchFamily="34" charset="0"/>
                <a:ea typeface="Open Sans" panose="020B0606030504020204" pitchFamily="34" charset="0"/>
                <a:cs typeface="Open Sans" panose="020B0606030504020204" pitchFamily="34" charset="0"/>
              </a:rPr>
              <a:t>accesibilidad.</a:t>
            </a:r>
          </a:p>
        </p:txBody>
      </p:sp>
    </p:spTree>
    <p:extLst>
      <p:ext uri="{BB962C8B-B14F-4D97-AF65-F5344CB8AC3E}">
        <p14:creationId xmlns:p14="http://schemas.microsoft.com/office/powerpoint/2010/main" val="1707941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CA811-7BBE-4F88-BB4F-83F2A3C204A4}"/>
            </a:ext>
          </a:extLst>
        </p:cNvPr>
        <p:cNvGrpSpPr/>
        <p:nvPr/>
      </p:nvGrpSpPr>
      <p:grpSpPr>
        <a:xfrm>
          <a:off x="0" y="0"/>
          <a:ext cx="0" cy="0"/>
          <a:chOff x="0" y="0"/>
          <a:chExt cx="0" cy="0"/>
        </a:xfrm>
      </p:grpSpPr>
      <p:grpSp>
        <p:nvGrpSpPr>
          <p:cNvPr id="11" name="Group 2">
            <a:extLst>
              <a:ext uri="{FF2B5EF4-FFF2-40B4-BE49-F238E27FC236}">
                <a16:creationId xmlns:a16="http://schemas.microsoft.com/office/drawing/2014/main" id="{CF1ED0FA-FA40-92A4-6CA1-61C79D289D58}"/>
              </a:ext>
            </a:extLst>
          </p:cNvPr>
          <p:cNvGrpSpPr/>
          <p:nvPr/>
        </p:nvGrpSpPr>
        <p:grpSpPr>
          <a:xfrm>
            <a:off x="152400" y="1303340"/>
            <a:ext cx="16619419" cy="7308825"/>
            <a:chOff x="0" y="0"/>
            <a:chExt cx="4377131" cy="1924958"/>
          </a:xfrm>
        </p:grpSpPr>
        <p:sp>
          <p:nvSpPr>
            <p:cNvPr id="12" name="Freeform 3">
              <a:extLst>
                <a:ext uri="{FF2B5EF4-FFF2-40B4-BE49-F238E27FC236}">
                  <a16:creationId xmlns:a16="http://schemas.microsoft.com/office/drawing/2014/main" id="{882B2819-95CC-D9F2-D91B-AFE526EE3BB5}"/>
                </a:ext>
              </a:extLst>
            </p:cNvPr>
            <p:cNvSpPr/>
            <p:nvPr/>
          </p:nvSpPr>
          <p:spPr>
            <a:xfrm>
              <a:off x="0" y="0"/>
              <a:ext cx="4377131" cy="1924958"/>
            </a:xfrm>
            <a:custGeom>
              <a:avLst/>
              <a:gdLst/>
              <a:ahLst/>
              <a:cxnLst/>
              <a:rect l="l" t="t" r="r" b="b"/>
              <a:pathLst>
                <a:path w="4377131" h="1924958">
                  <a:moveTo>
                    <a:pt x="0" y="0"/>
                  </a:moveTo>
                  <a:lnTo>
                    <a:pt x="4377131" y="0"/>
                  </a:lnTo>
                  <a:lnTo>
                    <a:pt x="4377131" y="1924958"/>
                  </a:lnTo>
                  <a:lnTo>
                    <a:pt x="0" y="1924958"/>
                  </a:lnTo>
                  <a:close/>
                </a:path>
              </a:pathLst>
            </a:custGeom>
            <a:solidFill>
              <a:srgbClr val="000000">
                <a:alpha val="0"/>
              </a:srgbClr>
            </a:solidFill>
            <a:ln w="133350" cap="sq">
              <a:solidFill>
                <a:srgbClr val="D7D72F"/>
              </a:solidFill>
              <a:prstDash val="solid"/>
              <a:miter/>
            </a:ln>
          </p:spPr>
          <p:txBody>
            <a:bodyPr/>
            <a:lstStyle/>
            <a:p>
              <a:endParaRPr lang="es-AR" noProof="0" dirty="0"/>
            </a:p>
          </p:txBody>
        </p:sp>
        <p:sp>
          <p:nvSpPr>
            <p:cNvPr id="13" name="TextBox 4">
              <a:extLst>
                <a:ext uri="{FF2B5EF4-FFF2-40B4-BE49-F238E27FC236}">
                  <a16:creationId xmlns:a16="http://schemas.microsoft.com/office/drawing/2014/main" id="{7A92B55C-A237-AE98-1D25-95BE2DA46106}"/>
                </a:ext>
              </a:extLst>
            </p:cNvPr>
            <p:cNvSpPr txBox="1"/>
            <p:nvPr/>
          </p:nvSpPr>
          <p:spPr>
            <a:xfrm>
              <a:off x="0" y="-38100"/>
              <a:ext cx="4377131" cy="1963058"/>
            </a:xfrm>
            <a:prstGeom prst="rect">
              <a:avLst/>
            </a:prstGeom>
          </p:spPr>
          <p:txBody>
            <a:bodyPr lIns="50800" tIns="50800" rIns="50800" bIns="50800" rtlCol="0" anchor="ctr"/>
            <a:lstStyle/>
            <a:p>
              <a:pPr algn="ctr">
                <a:lnSpc>
                  <a:spcPts val="2659"/>
                </a:lnSpc>
              </a:pPr>
              <a:endParaRPr lang="es-AR" noProof="0" dirty="0"/>
            </a:p>
          </p:txBody>
        </p:sp>
      </p:grpSp>
      <p:grpSp>
        <p:nvGrpSpPr>
          <p:cNvPr id="8" name="Group 5">
            <a:extLst>
              <a:ext uri="{FF2B5EF4-FFF2-40B4-BE49-F238E27FC236}">
                <a16:creationId xmlns:a16="http://schemas.microsoft.com/office/drawing/2014/main" id="{1563856D-B756-C4F6-C9FC-C6A6E75E86D0}"/>
              </a:ext>
            </a:extLst>
          </p:cNvPr>
          <p:cNvGrpSpPr/>
          <p:nvPr/>
        </p:nvGrpSpPr>
        <p:grpSpPr>
          <a:xfrm>
            <a:off x="0" y="380427"/>
            <a:ext cx="5481177" cy="1477682"/>
            <a:chOff x="0" y="0"/>
            <a:chExt cx="1443602" cy="389184"/>
          </a:xfrm>
        </p:grpSpPr>
        <p:sp>
          <p:nvSpPr>
            <p:cNvPr id="9" name="Freeform 6">
              <a:extLst>
                <a:ext uri="{FF2B5EF4-FFF2-40B4-BE49-F238E27FC236}">
                  <a16:creationId xmlns:a16="http://schemas.microsoft.com/office/drawing/2014/main" id="{0D132E69-D413-39AE-F9B9-FD2A6DD080AF}"/>
                </a:ext>
              </a:extLst>
            </p:cNvPr>
            <p:cNvSpPr/>
            <p:nvPr/>
          </p:nvSpPr>
          <p:spPr>
            <a:xfrm>
              <a:off x="0" y="0"/>
              <a:ext cx="1443602" cy="389184"/>
            </a:xfrm>
            <a:custGeom>
              <a:avLst/>
              <a:gdLst/>
              <a:ahLst/>
              <a:cxnLst/>
              <a:rect l="l" t="t" r="r" b="b"/>
              <a:pathLst>
                <a:path w="1443602" h="389184">
                  <a:moveTo>
                    <a:pt x="0" y="0"/>
                  </a:moveTo>
                  <a:lnTo>
                    <a:pt x="1443602" y="0"/>
                  </a:lnTo>
                  <a:lnTo>
                    <a:pt x="1443602" y="389184"/>
                  </a:lnTo>
                  <a:lnTo>
                    <a:pt x="0" y="389184"/>
                  </a:lnTo>
                  <a:close/>
                </a:path>
              </a:pathLst>
            </a:custGeom>
            <a:solidFill>
              <a:srgbClr val="D7D72F"/>
            </a:solidFill>
          </p:spPr>
          <p:txBody>
            <a:bodyPr/>
            <a:lstStyle/>
            <a:p>
              <a:endParaRPr lang="es-AR" noProof="0" dirty="0"/>
            </a:p>
          </p:txBody>
        </p:sp>
        <p:sp>
          <p:nvSpPr>
            <p:cNvPr id="10" name="TextBox 7">
              <a:extLst>
                <a:ext uri="{FF2B5EF4-FFF2-40B4-BE49-F238E27FC236}">
                  <a16:creationId xmlns:a16="http://schemas.microsoft.com/office/drawing/2014/main" id="{01A638FF-4E1F-BBCF-5F2D-72B881C0D74A}"/>
                </a:ext>
              </a:extLst>
            </p:cNvPr>
            <p:cNvSpPr txBox="1"/>
            <p:nvPr/>
          </p:nvSpPr>
          <p:spPr>
            <a:xfrm>
              <a:off x="0" y="-38100"/>
              <a:ext cx="1443602" cy="427284"/>
            </a:xfrm>
            <a:prstGeom prst="rect">
              <a:avLst/>
            </a:prstGeom>
          </p:spPr>
          <p:txBody>
            <a:bodyPr lIns="50800" tIns="50800" rIns="50800" bIns="50800" rtlCol="0" anchor="ctr"/>
            <a:lstStyle/>
            <a:p>
              <a:pPr algn="ctr">
                <a:lnSpc>
                  <a:spcPts val="2659"/>
                </a:lnSpc>
              </a:pPr>
              <a:endParaRPr lang="es-AR" noProof="0" dirty="0"/>
            </a:p>
          </p:txBody>
        </p:sp>
      </p:grpSp>
      <p:grpSp>
        <p:nvGrpSpPr>
          <p:cNvPr id="2" name="Group 2">
            <a:extLst>
              <a:ext uri="{FF2B5EF4-FFF2-40B4-BE49-F238E27FC236}">
                <a16:creationId xmlns:a16="http://schemas.microsoft.com/office/drawing/2014/main" id="{97839743-63E2-28A6-D710-DD8D03D89C8D}"/>
              </a:ext>
            </a:extLst>
          </p:cNvPr>
          <p:cNvGrpSpPr/>
          <p:nvPr/>
        </p:nvGrpSpPr>
        <p:grpSpPr>
          <a:xfrm>
            <a:off x="1" y="2171700"/>
            <a:ext cx="16002000" cy="8115300"/>
            <a:chOff x="0" y="0"/>
            <a:chExt cx="3959899" cy="1798331"/>
          </a:xfrm>
        </p:grpSpPr>
        <p:sp>
          <p:nvSpPr>
            <p:cNvPr id="3" name="Freeform 3">
              <a:extLst>
                <a:ext uri="{FF2B5EF4-FFF2-40B4-BE49-F238E27FC236}">
                  <a16:creationId xmlns:a16="http://schemas.microsoft.com/office/drawing/2014/main" id="{7897C66C-F724-3F9D-3B2A-FA6155F0131F}"/>
                </a:ext>
              </a:extLst>
            </p:cNvPr>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4" name="TextBox 4">
              <a:extLst>
                <a:ext uri="{FF2B5EF4-FFF2-40B4-BE49-F238E27FC236}">
                  <a16:creationId xmlns:a16="http://schemas.microsoft.com/office/drawing/2014/main" id="{ACBB6A30-D999-EB7C-F93E-DAEC2D73D0EF}"/>
                </a:ext>
              </a:extLst>
            </p:cNvPr>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5" name="TextBox 5">
            <a:extLst>
              <a:ext uri="{FF2B5EF4-FFF2-40B4-BE49-F238E27FC236}">
                <a16:creationId xmlns:a16="http://schemas.microsoft.com/office/drawing/2014/main" id="{A09F4596-BAAF-49A5-5975-2265D72F95BC}"/>
              </a:ext>
            </a:extLst>
          </p:cNvPr>
          <p:cNvSpPr txBox="1"/>
          <p:nvPr/>
        </p:nvSpPr>
        <p:spPr>
          <a:xfrm>
            <a:off x="0" y="513846"/>
            <a:ext cx="5481177" cy="1254511"/>
          </a:xfrm>
          <a:prstGeom prst="rect">
            <a:avLst/>
          </a:prstGeom>
        </p:spPr>
        <p:txBody>
          <a:bodyPr wrap="square" lIns="0" tIns="0" rIns="0" bIns="0" rtlCol="0" anchor="t">
            <a:spAutoFit/>
          </a:bodyPr>
          <a:lstStyle/>
          <a:p>
            <a:pPr algn="ctr">
              <a:lnSpc>
                <a:spcPts val="5039"/>
              </a:lnSpc>
              <a:spcBef>
                <a:spcPct val="0"/>
              </a:spcBef>
            </a:pPr>
            <a:r>
              <a:rPr lang="es-AR" sz="4000" b="1" spc="1331"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Montserrat"/>
              </a:rPr>
              <a:t>APOYO RECIBIDA</a:t>
            </a:r>
          </a:p>
        </p:txBody>
      </p:sp>
      <p:sp>
        <p:nvSpPr>
          <p:cNvPr id="6" name="TextBox 6">
            <a:extLst>
              <a:ext uri="{FF2B5EF4-FFF2-40B4-BE49-F238E27FC236}">
                <a16:creationId xmlns:a16="http://schemas.microsoft.com/office/drawing/2014/main" id="{2A724F83-1320-520A-B2EB-1486446793FB}"/>
              </a:ext>
            </a:extLst>
          </p:cNvPr>
          <p:cNvSpPr txBox="1"/>
          <p:nvPr/>
        </p:nvSpPr>
        <p:spPr>
          <a:xfrm>
            <a:off x="152400" y="3695700"/>
            <a:ext cx="15773401" cy="4739759"/>
          </a:xfrm>
          <a:prstGeom prst="rect">
            <a:avLst/>
          </a:prstGeom>
        </p:spPr>
        <p:txBody>
          <a:bodyPr wrap="square" lIns="0" tIns="0" rIns="0" bIns="0" rtlCol="0" anchor="t">
            <a:spAutoFit/>
          </a:bodyPr>
          <a:lstStyle/>
          <a:p>
            <a:r>
              <a:rPr lang="es-AR" sz="2800" noProof="0" dirty="0">
                <a:latin typeface="Open Sans" panose="020B0606030504020204" pitchFamily="34" charset="0"/>
                <a:ea typeface="Open Sans" panose="020B0606030504020204" pitchFamily="34" charset="0"/>
                <a:cs typeface="Open Sans" panose="020B0606030504020204" pitchFamily="34" charset="0"/>
              </a:rPr>
              <a:t>La </a:t>
            </a:r>
            <a:r>
              <a:rPr lang="es-AR" sz="2800" b="1" noProof="0" dirty="0">
                <a:latin typeface="Open Sans" panose="020B0606030504020204" pitchFamily="34" charset="0"/>
                <a:ea typeface="Open Sans" panose="020B0606030504020204" pitchFamily="34" charset="0"/>
                <a:cs typeface="Open Sans" panose="020B0606030504020204" pitchFamily="34" charset="0"/>
              </a:rPr>
              <a:t>ASAC</a:t>
            </a:r>
            <a:r>
              <a:rPr lang="es-AR" sz="2800" noProof="0" dirty="0">
                <a:latin typeface="Open Sans" panose="020B0606030504020204" pitchFamily="34" charset="0"/>
                <a:ea typeface="Open Sans" panose="020B0606030504020204" pitchFamily="34" charset="0"/>
                <a:cs typeface="Open Sans" panose="020B0606030504020204" pitchFamily="34" charset="0"/>
              </a:rPr>
              <a:t> no solo actuó como nuestro </a:t>
            </a:r>
            <a:r>
              <a:rPr lang="es-AR" sz="2800" b="1" noProof="0" dirty="0">
                <a:latin typeface="Open Sans" panose="020B0606030504020204" pitchFamily="34" charset="0"/>
                <a:ea typeface="Open Sans" panose="020B0606030504020204" pitchFamily="34" charset="0"/>
                <a:cs typeface="Open Sans" panose="020B0606030504020204" pitchFamily="34" charset="0"/>
              </a:rPr>
              <a:t>sponsor</a:t>
            </a:r>
            <a:r>
              <a:rPr lang="es-AR" sz="2800" noProof="0" dirty="0">
                <a:latin typeface="Open Sans" panose="020B0606030504020204" pitchFamily="34" charset="0"/>
                <a:ea typeface="Open Sans" panose="020B0606030504020204" pitchFamily="34" charset="0"/>
                <a:cs typeface="Open Sans" panose="020B0606030504020204" pitchFamily="34" charset="0"/>
              </a:rPr>
              <a:t>, sino que </a:t>
            </a:r>
            <a:r>
              <a:rPr lang="es-AR" sz="2800" b="1" noProof="0" dirty="0">
                <a:latin typeface="Open Sans" panose="020B0606030504020204" pitchFamily="34" charset="0"/>
                <a:ea typeface="Open Sans" panose="020B0606030504020204" pitchFamily="34" charset="0"/>
                <a:cs typeface="Open Sans" panose="020B0606030504020204" pitchFamily="34" charset="0"/>
              </a:rPr>
              <a:t>también</a:t>
            </a:r>
            <a:r>
              <a:rPr lang="es-AR" sz="2800" noProof="0" dirty="0">
                <a:latin typeface="Open Sans" panose="020B0606030504020204" pitchFamily="34" charset="0"/>
                <a:ea typeface="Open Sans" panose="020B0606030504020204" pitchFamily="34" charset="0"/>
                <a:cs typeface="Open Sans" panose="020B0606030504020204" pitchFamily="34" charset="0"/>
              </a:rPr>
              <a:t> fue una </a:t>
            </a:r>
            <a:r>
              <a:rPr lang="es-AR" sz="2800" b="1" noProof="0" dirty="0">
                <a:latin typeface="Open Sans" panose="020B0606030504020204" pitchFamily="34" charset="0"/>
                <a:ea typeface="Open Sans" panose="020B0606030504020204" pitchFamily="34" charset="0"/>
                <a:cs typeface="Open Sans" panose="020B0606030504020204" pitchFamily="34" charset="0"/>
              </a:rPr>
              <a:t>guía clave </a:t>
            </a:r>
            <a:r>
              <a:rPr lang="es-AR" sz="2800" noProof="0" dirty="0">
                <a:latin typeface="Open Sans" panose="020B0606030504020204" pitchFamily="34" charset="0"/>
                <a:ea typeface="Open Sans" panose="020B0606030504020204" pitchFamily="34" charset="0"/>
                <a:cs typeface="Open Sans" panose="020B0606030504020204" pitchFamily="34" charset="0"/>
              </a:rPr>
              <a:t>para el </a:t>
            </a:r>
            <a:r>
              <a:rPr lang="es-AR" sz="2800" b="1" noProof="0" dirty="0">
                <a:latin typeface="Open Sans" panose="020B0606030504020204" pitchFamily="34" charset="0"/>
                <a:ea typeface="Open Sans" panose="020B0606030504020204" pitchFamily="34" charset="0"/>
                <a:cs typeface="Open Sans" panose="020B0606030504020204" pitchFamily="34" charset="0"/>
              </a:rPr>
              <a:t>desarrollo del proyecto.</a:t>
            </a:r>
            <a:r>
              <a:rPr lang="es-AR" sz="2800" noProof="0" dirty="0">
                <a:latin typeface="Open Sans" panose="020B0606030504020204" pitchFamily="34" charset="0"/>
                <a:ea typeface="Open Sans" panose="020B0606030504020204" pitchFamily="34" charset="0"/>
                <a:cs typeface="Open Sans" panose="020B0606030504020204" pitchFamily="34" charset="0"/>
              </a:rPr>
              <a:t> Nos </a:t>
            </a:r>
            <a:r>
              <a:rPr lang="es-AR" sz="2800" b="1" noProof="0" dirty="0">
                <a:latin typeface="Open Sans" panose="020B0606030504020204" pitchFamily="34" charset="0"/>
                <a:ea typeface="Open Sans" panose="020B0606030504020204" pitchFamily="34" charset="0"/>
                <a:cs typeface="Open Sans" panose="020B0606030504020204" pitchFamily="34" charset="0"/>
              </a:rPr>
              <a:t>ayudaron</a:t>
            </a:r>
            <a:r>
              <a:rPr lang="es-AR" sz="2800" noProof="0" dirty="0">
                <a:latin typeface="Open Sans" panose="020B0606030504020204" pitchFamily="34" charset="0"/>
                <a:ea typeface="Open Sans" panose="020B0606030504020204" pitchFamily="34" charset="0"/>
                <a:cs typeface="Open Sans" panose="020B0606030504020204" pitchFamily="34" charset="0"/>
              </a:rPr>
              <a:t> a entender qué </a:t>
            </a:r>
            <a:r>
              <a:rPr lang="es-AR" sz="2800" b="1" noProof="0" dirty="0">
                <a:latin typeface="Open Sans" panose="020B0606030504020204" pitchFamily="34" charset="0"/>
                <a:ea typeface="Open Sans" panose="020B0606030504020204" pitchFamily="34" charset="0"/>
                <a:cs typeface="Open Sans" panose="020B0606030504020204" pitchFamily="34" charset="0"/>
              </a:rPr>
              <a:t>elementos</a:t>
            </a:r>
            <a:r>
              <a:rPr lang="es-AR" sz="2800" noProof="0" dirty="0">
                <a:latin typeface="Open Sans" panose="020B0606030504020204" pitchFamily="34" charset="0"/>
                <a:ea typeface="Open Sans" panose="020B0606030504020204" pitchFamily="34" charset="0"/>
                <a:cs typeface="Open Sans" panose="020B0606030504020204" pitchFamily="34" charset="0"/>
              </a:rPr>
              <a:t> debe </a:t>
            </a:r>
            <a:r>
              <a:rPr lang="es-AR" sz="2800" b="1" noProof="0" dirty="0">
                <a:latin typeface="Open Sans" panose="020B0606030504020204" pitchFamily="34" charset="0"/>
                <a:ea typeface="Open Sans" panose="020B0606030504020204" pitchFamily="34" charset="0"/>
                <a:cs typeface="Open Sans" panose="020B0606030504020204" pitchFamily="34" charset="0"/>
              </a:rPr>
              <a:t>detectar la cámara </a:t>
            </a:r>
            <a:r>
              <a:rPr lang="es-AR" sz="2800" noProof="0" dirty="0">
                <a:latin typeface="Open Sans" panose="020B0606030504020204" pitchFamily="34" charset="0"/>
                <a:ea typeface="Open Sans" panose="020B0606030504020204" pitchFamily="34" charset="0"/>
                <a:cs typeface="Open Sans" panose="020B0606030504020204" pitchFamily="34" charset="0"/>
              </a:rPr>
              <a:t>—como </a:t>
            </a:r>
            <a:r>
              <a:rPr lang="es-AR" sz="2800" b="1" noProof="0" dirty="0">
                <a:latin typeface="Open Sans" panose="020B0606030504020204" pitchFamily="34" charset="0"/>
                <a:ea typeface="Open Sans" panose="020B0606030504020204" pitchFamily="34" charset="0"/>
                <a:cs typeface="Open Sans" panose="020B0606030504020204" pitchFamily="34" charset="0"/>
              </a:rPr>
              <a:t>personas, autos y semáforos</a:t>
            </a:r>
            <a:r>
              <a:rPr lang="es-AR" sz="2800" noProof="0" dirty="0">
                <a:latin typeface="Open Sans" panose="020B0606030504020204" pitchFamily="34" charset="0"/>
                <a:ea typeface="Open Sans" panose="020B0606030504020204" pitchFamily="34" charset="0"/>
                <a:cs typeface="Open Sans" panose="020B0606030504020204" pitchFamily="34" charset="0"/>
              </a:rPr>
              <a:t>— y nos </a:t>
            </a:r>
            <a:r>
              <a:rPr lang="es-AR" sz="2800" b="1" noProof="0" dirty="0">
                <a:latin typeface="Open Sans" panose="020B0606030504020204" pitchFamily="34" charset="0"/>
                <a:ea typeface="Open Sans" panose="020B0606030504020204" pitchFamily="34" charset="0"/>
                <a:cs typeface="Open Sans" panose="020B0606030504020204" pitchFamily="34" charset="0"/>
              </a:rPr>
              <a:t>dieron referencias </a:t>
            </a:r>
            <a:r>
              <a:rPr lang="es-AR" sz="2800" noProof="0" dirty="0">
                <a:latin typeface="Open Sans" panose="020B0606030504020204" pitchFamily="34" charset="0"/>
                <a:ea typeface="Open Sans" panose="020B0606030504020204" pitchFamily="34" charset="0"/>
                <a:cs typeface="Open Sans" panose="020B0606030504020204" pitchFamily="34" charset="0"/>
              </a:rPr>
              <a:t>importantes sobre las </a:t>
            </a:r>
            <a:r>
              <a:rPr lang="es-AR" sz="2800" b="1" noProof="0" dirty="0">
                <a:latin typeface="Open Sans" panose="020B0606030504020204" pitchFamily="34" charset="0"/>
                <a:ea typeface="Open Sans" panose="020B0606030504020204" pitchFamily="34" charset="0"/>
                <a:cs typeface="Open Sans" panose="020B0606030504020204" pitchFamily="34" charset="0"/>
              </a:rPr>
              <a:t>necesidades reales </a:t>
            </a:r>
            <a:r>
              <a:rPr lang="es-AR" sz="2800" noProof="0" dirty="0">
                <a:latin typeface="Open Sans" panose="020B0606030504020204" pitchFamily="34" charset="0"/>
                <a:ea typeface="Open Sans" panose="020B0606030504020204" pitchFamily="34" charset="0"/>
                <a:cs typeface="Open Sans" panose="020B0606030504020204" pitchFamily="34" charset="0"/>
              </a:rPr>
              <a:t>de quienes tienen visión nula.</a:t>
            </a:r>
          </a:p>
          <a:p>
            <a:endParaRPr lang="es-AR" sz="2800" noProof="0" dirty="0">
              <a:latin typeface="Open Sans" panose="020B0606030504020204" pitchFamily="34" charset="0"/>
              <a:ea typeface="Open Sans" panose="020B0606030504020204" pitchFamily="34" charset="0"/>
              <a:cs typeface="Open Sans" panose="020B0606030504020204" pitchFamily="34" charset="0"/>
            </a:endParaRPr>
          </a:p>
          <a:p>
            <a:r>
              <a:rPr lang="es-AR" sz="2800" noProof="0" dirty="0">
                <a:latin typeface="Open Sans" panose="020B0606030504020204" pitchFamily="34" charset="0"/>
                <a:ea typeface="Open Sans" panose="020B0606030504020204" pitchFamily="34" charset="0"/>
                <a:cs typeface="Open Sans" panose="020B0606030504020204" pitchFamily="34" charset="0"/>
              </a:rPr>
              <a:t>También </a:t>
            </a:r>
            <a:r>
              <a:rPr lang="es-AR" sz="2800" b="1" noProof="0" dirty="0">
                <a:latin typeface="Open Sans" panose="020B0606030504020204" pitchFamily="34" charset="0"/>
                <a:ea typeface="Open Sans" panose="020B0606030504020204" pitchFamily="34" charset="0"/>
                <a:cs typeface="Open Sans" panose="020B0606030504020204" pitchFamily="34" charset="0"/>
              </a:rPr>
              <a:t>aportaron ideas </a:t>
            </a:r>
            <a:r>
              <a:rPr lang="es-AR" sz="2800" noProof="0" dirty="0">
                <a:latin typeface="Open Sans" panose="020B0606030504020204" pitchFamily="34" charset="0"/>
                <a:ea typeface="Open Sans" panose="020B0606030504020204" pitchFamily="34" charset="0"/>
                <a:cs typeface="Open Sans" panose="020B0606030504020204" pitchFamily="34" charset="0"/>
              </a:rPr>
              <a:t>para </a:t>
            </a:r>
            <a:r>
              <a:rPr lang="es-AR" sz="2800" b="1" noProof="0" dirty="0">
                <a:latin typeface="Open Sans" panose="020B0606030504020204" pitchFamily="34" charset="0"/>
                <a:ea typeface="Open Sans" panose="020B0606030504020204" pitchFamily="34" charset="0"/>
                <a:cs typeface="Open Sans" panose="020B0606030504020204" pitchFamily="34" charset="0"/>
              </a:rPr>
              <a:t>mejorar el diseño </a:t>
            </a:r>
            <a:r>
              <a:rPr lang="es-AR" sz="2800" noProof="0" dirty="0">
                <a:latin typeface="Open Sans" panose="020B0606030504020204" pitchFamily="34" charset="0"/>
                <a:ea typeface="Open Sans" panose="020B0606030504020204" pitchFamily="34" charset="0"/>
                <a:cs typeface="Open Sans" panose="020B0606030504020204" pitchFamily="34" charset="0"/>
              </a:rPr>
              <a:t>de los </a:t>
            </a:r>
            <a:r>
              <a:rPr lang="es-AR" sz="2800" b="1" noProof="0" dirty="0">
                <a:latin typeface="Open Sans" panose="020B0606030504020204" pitchFamily="34" charset="0"/>
                <a:ea typeface="Open Sans" panose="020B0606030504020204" pitchFamily="34" charset="0"/>
                <a:cs typeface="Open Sans" panose="020B0606030504020204" pitchFamily="34" charset="0"/>
              </a:rPr>
              <a:t>lentes</a:t>
            </a:r>
            <a:r>
              <a:rPr lang="es-AR" sz="2800" noProof="0" dirty="0">
                <a:latin typeface="Open Sans" panose="020B0606030504020204" pitchFamily="34" charset="0"/>
                <a:ea typeface="Open Sans" panose="020B0606030504020204" pitchFamily="34" charset="0"/>
                <a:cs typeface="Open Sans" panose="020B0606030504020204" pitchFamily="34" charset="0"/>
              </a:rPr>
              <a:t>, especialmente en cuanto a </a:t>
            </a:r>
            <a:r>
              <a:rPr lang="es-AR" sz="2800" b="1" noProof="0" dirty="0">
                <a:latin typeface="Open Sans" panose="020B0606030504020204" pitchFamily="34" charset="0"/>
                <a:ea typeface="Open Sans" panose="020B0606030504020204" pitchFamily="34" charset="0"/>
                <a:cs typeface="Open Sans" panose="020B0606030504020204" pitchFamily="34" charset="0"/>
              </a:rPr>
              <a:t>comodidad y peso</a:t>
            </a:r>
            <a:r>
              <a:rPr lang="es-AR" sz="2800" noProof="0" dirty="0">
                <a:latin typeface="Open Sans" panose="020B0606030504020204" pitchFamily="34" charset="0"/>
                <a:ea typeface="Open Sans" panose="020B0606030504020204" pitchFamily="34" charset="0"/>
                <a:cs typeface="Open Sans" panose="020B0606030504020204" pitchFamily="34" charset="0"/>
              </a:rPr>
              <a:t>, para que resulten </a:t>
            </a:r>
            <a:r>
              <a:rPr lang="es-AR" sz="2800" b="1" noProof="0" dirty="0">
                <a:latin typeface="Open Sans" panose="020B0606030504020204" pitchFamily="34" charset="0"/>
                <a:ea typeface="Open Sans" panose="020B0606030504020204" pitchFamily="34" charset="0"/>
                <a:cs typeface="Open Sans" panose="020B0606030504020204" pitchFamily="34" charset="0"/>
              </a:rPr>
              <a:t>prácticos y fáciles de usar</a:t>
            </a:r>
            <a:r>
              <a:rPr lang="es-AR" sz="2800" noProof="0" dirty="0">
                <a:latin typeface="Open Sans" panose="020B0606030504020204" pitchFamily="34" charset="0"/>
                <a:ea typeface="Open Sans" panose="020B0606030504020204" pitchFamily="34" charset="0"/>
                <a:cs typeface="Open Sans" panose="020B0606030504020204" pitchFamily="34" charset="0"/>
              </a:rPr>
              <a:t>. </a:t>
            </a:r>
          </a:p>
          <a:p>
            <a:endParaRPr lang="es-AR" sz="2800" noProof="0" dirty="0">
              <a:latin typeface="Open Sans" panose="020B0606030504020204" pitchFamily="34" charset="0"/>
              <a:ea typeface="Open Sans" panose="020B0606030504020204" pitchFamily="34" charset="0"/>
              <a:cs typeface="Open Sans" panose="020B0606030504020204" pitchFamily="34" charset="0"/>
            </a:endParaRPr>
          </a:p>
          <a:p>
            <a:r>
              <a:rPr lang="es-AR" sz="2800" noProof="0" dirty="0">
                <a:latin typeface="Open Sans" panose="020B0606030504020204" pitchFamily="34" charset="0"/>
                <a:ea typeface="Open Sans" panose="020B0606030504020204" pitchFamily="34" charset="0"/>
                <a:cs typeface="Open Sans" panose="020B0606030504020204" pitchFamily="34" charset="0"/>
              </a:rPr>
              <a:t>Además, nos </a:t>
            </a:r>
            <a:r>
              <a:rPr lang="es-AR" sz="2800" b="1" noProof="0" dirty="0">
                <a:latin typeface="Open Sans" panose="020B0606030504020204" pitchFamily="34" charset="0"/>
                <a:ea typeface="Open Sans" panose="020B0606030504020204" pitchFamily="34" charset="0"/>
                <a:cs typeface="Open Sans" panose="020B0606030504020204" pitchFamily="34" charset="0"/>
              </a:rPr>
              <a:t>ayudaron</a:t>
            </a:r>
            <a:r>
              <a:rPr lang="es-AR" sz="2800" noProof="0" dirty="0">
                <a:latin typeface="Open Sans" panose="020B0606030504020204" pitchFamily="34" charset="0"/>
                <a:ea typeface="Open Sans" panose="020B0606030504020204" pitchFamily="34" charset="0"/>
                <a:cs typeface="Open Sans" panose="020B0606030504020204" pitchFamily="34" charset="0"/>
              </a:rPr>
              <a:t> a </a:t>
            </a:r>
            <a:r>
              <a:rPr lang="es-AR" sz="2800" b="1" noProof="0" dirty="0">
                <a:latin typeface="Open Sans" panose="020B0606030504020204" pitchFamily="34" charset="0"/>
                <a:ea typeface="Open Sans" panose="020B0606030504020204" pitchFamily="34" charset="0"/>
                <a:cs typeface="Open Sans" panose="020B0606030504020204" pitchFamily="34" charset="0"/>
              </a:rPr>
              <a:t>aclarar y organizar</a:t>
            </a:r>
            <a:r>
              <a:rPr lang="es-AR" sz="2800" noProof="0" dirty="0">
                <a:latin typeface="Open Sans" panose="020B0606030504020204" pitchFamily="34" charset="0"/>
                <a:ea typeface="Open Sans" panose="020B0606030504020204" pitchFamily="34" charset="0"/>
                <a:cs typeface="Open Sans" panose="020B0606030504020204" pitchFamily="34" charset="0"/>
              </a:rPr>
              <a:t> nuestras </a:t>
            </a:r>
            <a:r>
              <a:rPr lang="es-AR" sz="2800" b="1" noProof="0" dirty="0">
                <a:latin typeface="Open Sans" panose="020B0606030504020204" pitchFamily="34" charset="0"/>
                <a:ea typeface="Open Sans" panose="020B0606030504020204" pitchFamily="34" charset="0"/>
                <a:cs typeface="Open Sans" panose="020B0606030504020204" pitchFamily="34" charset="0"/>
              </a:rPr>
              <a:t>ideas</a:t>
            </a:r>
            <a:r>
              <a:rPr lang="es-AR" sz="2800" noProof="0" dirty="0">
                <a:latin typeface="Open Sans" panose="020B0606030504020204" pitchFamily="34" charset="0"/>
                <a:ea typeface="Open Sans" panose="020B0606030504020204" pitchFamily="34" charset="0"/>
                <a:cs typeface="Open Sans" panose="020B0606030504020204" pitchFamily="34" charset="0"/>
              </a:rPr>
              <a:t> para el proyecto. Algunas de estas nos </a:t>
            </a:r>
            <a:r>
              <a:rPr lang="es-AR" sz="2800" b="1" noProof="0" dirty="0">
                <a:latin typeface="Open Sans" panose="020B0606030504020204" pitchFamily="34" charset="0"/>
                <a:ea typeface="Open Sans" panose="020B0606030504020204" pitchFamily="34" charset="0"/>
                <a:cs typeface="Open Sans" panose="020B0606030504020204" pitchFamily="34" charset="0"/>
              </a:rPr>
              <a:t>recomendaron no hacer</a:t>
            </a:r>
            <a:r>
              <a:rPr lang="es-AR" sz="2800" noProof="0" dirty="0">
                <a:latin typeface="Open Sans" panose="020B0606030504020204" pitchFamily="34" charset="0"/>
                <a:ea typeface="Open Sans" panose="020B0606030504020204" pitchFamily="34" charset="0"/>
                <a:cs typeface="Open Sans" panose="020B0606030504020204" pitchFamily="34" charset="0"/>
              </a:rPr>
              <a:t>, como la idea del </a:t>
            </a:r>
            <a:r>
              <a:rPr lang="es-AR" sz="2800" b="1" noProof="0" dirty="0">
                <a:latin typeface="Open Sans" panose="020B0606030504020204" pitchFamily="34" charset="0"/>
                <a:ea typeface="Open Sans" panose="020B0606030504020204" pitchFamily="34" charset="0"/>
                <a:cs typeface="Open Sans" panose="020B0606030504020204" pitchFamily="34" charset="0"/>
              </a:rPr>
              <a:t>bastón</a:t>
            </a:r>
            <a:r>
              <a:rPr lang="es-AR" sz="2800" noProof="0" dirty="0">
                <a:latin typeface="Open Sans" panose="020B0606030504020204" pitchFamily="34" charset="0"/>
                <a:ea typeface="Open Sans" panose="020B0606030504020204" pitchFamily="34" charset="0"/>
                <a:cs typeface="Open Sans" panose="020B0606030504020204" pitchFamily="34" charset="0"/>
              </a:rPr>
              <a:t>, pero también </a:t>
            </a:r>
            <a:r>
              <a:rPr lang="es-AR" sz="2800" b="1" noProof="0" dirty="0">
                <a:latin typeface="Open Sans" panose="020B0606030504020204" pitchFamily="34" charset="0"/>
                <a:ea typeface="Open Sans" panose="020B0606030504020204" pitchFamily="34" charset="0"/>
                <a:cs typeface="Open Sans" panose="020B0606030504020204" pitchFamily="34" charset="0"/>
              </a:rPr>
              <a:t>dándonos otras ideas</a:t>
            </a:r>
            <a:r>
              <a:rPr lang="es-AR" sz="2800" noProof="0" dirty="0">
                <a:latin typeface="Open Sans" panose="020B0606030504020204" pitchFamily="34" charset="0"/>
                <a:ea typeface="Open Sans" panose="020B0606030504020204" pitchFamily="34" charset="0"/>
                <a:cs typeface="Open Sans" panose="020B0606030504020204" pitchFamily="34" charset="0"/>
              </a:rPr>
              <a:t> como la de </a:t>
            </a:r>
            <a:r>
              <a:rPr lang="es-AR" sz="2800" b="1" noProof="0" dirty="0">
                <a:latin typeface="Open Sans" panose="020B0606030504020204" pitchFamily="34" charset="0"/>
                <a:ea typeface="Open Sans" panose="020B0606030504020204" pitchFamily="34" charset="0"/>
                <a:cs typeface="Open Sans" panose="020B0606030504020204" pitchFamily="34" charset="0"/>
              </a:rPr>
              <a:t>colocar todo en los lentes.</a:t>
            </a:r>
          </a:p>
        </p:txBody>
      </p:sp>
    </p:spTree>
    <p:extLst>
      <p:ext uri="{BB962C8B-B14F-4D97-AF65-F5344CB8AC3E}">
        <p14:creationId xmlns:p14="http://schemas.microsoft.com/office/powerpoint/2010/main" val="527773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3762183"/>
            <a:ext cx="16230600" cy="2762634"/>
            <a:chOff x="0" y="0"/>
            <a:chExt cx="4274726" cy="727607"/>
          </a:xfrm>
        </p:grpSpPr>
        <p:sp>
          <p:nvSpPr>
            <p:cNvPr id="3" name="Freeform 3"/>
            <p:cNvSpPr/>
            <p:nvPr/>
          </p:nvSpPr>
          <p:spPr>
            <a:xfrm>
              <a:off x="0" y="0"/>
              <a:ext cx="4274726" cy="727607"/>
            </a:xfrm>
            <a:custGeom>
              <a:avLst/>
              <a:gdLst/>
              <a:ahLst/>
              <a:cxnLst/>
              <a:rect l="l" t="t" r="r" b="b"/>
              <a:pathLst>
                <a:path w="4274726" h="727607">
                  <a:moveTo>
                    <a:pt x="0" y="0"/>
                  </a:moveTo>
                  <a:lnTo>
                    <a:pt x="4274726" y="0"/>
                  </a:lnTo>
                  <a:lnTo>
                    <a:pt x="4274726" y="727607"/>
                  </a:lnTo>
                  <a:lnTo>
                    <a:pt x="0" y="727607"/>
                  </a:lnTo>
                  <a:close/>
                </a:path>
              </a:pathLst>
            </a:custGeom>
            <a:solidFill>
              <a:srgbClr val="D7D72F"/>
            </a:solidFill>
          </p:spPr>
          <p:txBody>
            <a:bodyPr/>
            <a:lstStyle/>
            <a:p>
              <a:endParaRPr lang="es-AR" noProof="0" dirty="0"/>
            </a:p>
          </p:txBody>
        </p:sp>
        <p:sp>
          <p:nvSpPr>
            <p:cNvPr id="4" name="TextBox 4"/>
            <p:cNvSpPr txBox="1"/>
            <p:nvPr/>
          </p:nvSpPr>
          <p:spPr>
            <a:xfrm>
              <a:off x="0" y="-38100"/>
              <a:ext cx="4274726" cy="765707"/>
            </a:xfrm>
            <a:prstGeom prst="rect">
              <a:avLst/>
            </a:prstGeom>
          </p:spPr>
          <p:txBody>
            <a:bodyPr lIns="50800" tIns="50800" rIns="50800" bIns="50800" rtlCol="0" anchor="ctr"/>
            <a:lstStyle/>
            <a:p>
              <a:pPr algn="ctr">
                <a:lnSpc>
                  <a:spcPts val="2659"/>
                </a:lnSpc>
              </a:pPr>
              <a:endParaRPr lang="es-AR" noProof="0" dirty="0"/>
            </a:p>
          </p:txBody>
        </p:sp>
      </p:grpSp>
      <p:sp>
        <p:nvSpPr>
          <p:cNvPr id="5" name="TextBox 5"/>
          <p:cNvSpPr txBox="1"/>
          <p:nvPr/>
        </p:nvSpPr>
        <p:spPr>
          <a:xfrm>
            <a:off x="3094166" y="4497706"/>
            <a:ext cx="12099668" cy="645794"/>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Semi-Bold"/>
                <a:ea typeface="Montserrat Semi-Bold"/>
                <a:cs typeface="Montserrat Semi-Bold"/>
                <a:sym typeface="Montserrat Semi-Bold"/>
              </a:rPr>
              <a:t>LENTES</a:t>
            </a:r>
          </a:p>
        </p:txBody>
      </p:sp>
      <p:sp>
        <p:nvSpPr>
          <p:cNvPr id="6" name="TextBox 6"/>
          <p:cNvSpPr txBox="1"/>
          <p:nvPr/>
        </p:nvSpPr>
        <p:spPr>
          <a:xfrm>
            <a:off x="3094166" y="7377028"/>
            <a:ext cx="12099668" cy="645794"/>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Semi-Bold"/>
                <a:ea typeface="Montserrat Semi-Bold"/>
                <a:cs typeface="Montserrat Semi-Bold"/>
                <a:sym typeface="Montserrat Semi-Bold"/>
              </a:rPr>
              <a:t>CARAM, MATIAS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7D72F"/>
        </a:solidFill>
        <a:effectLst/>
      </p:bgPr>
    </p:bg>
    <p:spTree>
      <p:nvGrpSpPr>
        <p:cNvPr id="1" name=""/>
        <p:cNvGrpSpPr/>
        <p:nvPr/>
      </p:nvGrpSpPr>
      <p:grpSpPr>
        <a:xfrm>
          <a:off x="0" y="0"/>
          <a:ext cx="0" cy="0"/>
          <a:chOff x="0" y="0"/>
          <a:chExt cx="0" cy="0"/>
        </a:xfrm>
      </p:grpSpPr>
      <p:sp>
        <p:nvSpPr>
          <p:cNvPr id="4" name="TextBox 4"/>
          <p:cNvSpPr txBox="1"/>
          <p:nvPr/>
        </p:nvSpPr>
        <p:spPr>
          <a:xfrm>
            <a:off x="1626379" y="1584820"/>
            <a:ext cx="15035243" cy="6972699"/>
          </a:xfrm>
          <a:prstGeom prst="rect">
            <a:avLst/>
          </a:prstGeom>
        </p:spPr>
        <p:txBody>
          <a:bodyPr lIns="50800" tIns="50800" rIns="50800" bIns="50800" rtlCol="0" anchor="ctr"/>
          <a:lstStyle/>
          <a:p>
            <a:pPr algn="ctr">
              <a:lnSpc>
                <a:spcPts val="2659"/>
              </a:lnSpc>
            </a:pPr>
            <a:endParaRPr lang="es-AR" noProof="0" dirty="0"/>
          </a:p>
        </p:txBody>
      </p:sp>
      <p:sp>
        <p:nvSpPr>
          <p:cNvPr id="5" name="TextBox 5"/>
          <p:cNvSpPr txBox="1"/>
          <p:nvPr/>
        </p:nvSpPr>
        <p:spPr>
          <a:xfrm>
            <a:off x="0" y="571500"/>
            <a:ext cx="5791200" cy="645794"/>
          </a:xfrm>
          <a:prstGeom prst="rect">
            <a:avLst/>
          </a:prstGeom>
        </p:spPr>
        <p:txBody>
          <a:bodyPr wrap="square" lIns="0" tIns="0" rIns="0" bIns="0" rtlCol="0" anchor="t">
            <a:spAutoFit/>
          </a:bodyPr>
          <a:lstStyle/>
          <a:p>
            <a:pPr algn="ctr">
              <a:lnSpc>
                <a:spcPts val="5039"/>
              </a:lnSpc>
              <a:spcBef>
                <a:spcPct val="0"/>
              </a:spcBef>
            </a:pPr>
            <a:r>
              <a:rPr lang="es-AR" sz="4499" b="1" spc="1331"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Montserrat"/>
              </a:rPr>
              <a:t>MODELADO</a:t>
            </a:r>
          </a:p>
        </p:txBody>
      </p:sp>
      <p:sp>
        <p:nvSpPr>
          <p:cNvPr id="6" name="TextBox 6"/>
          <p:cNvSpPr txBox="1"/>
          <p:nvPr/>
        </p:nvSpPr>
        <p:spPr>
          <a:xfrm>
            <a:off x="5791200" y="357559"/>
            <a:ext cx="11394797" cy="1346522"/>
          </a:xfrm>
          <a:prstGeom prst="rect">
            <a:avLst/>
          </a:prstGeom>
        </p:spPr>
        <p:txBody>
          <a:bodyPr lIns="0" tIns="0" rIns="0" bIns="0" rtlCol="0" anchor="t">
            <a:spAutoFit/>
          </a:bodyPr>
          <a:lstStyle/>
          <a:p>
            <a:pPr algn="ctr">
              <a:lnSpc>
                <a:spcPts val="3499"/>
              </a:lnSpc>
            </a:pPr>
            <a:r>
              <a:rPr lang="es-AR" sz="3600" noProof="0" dirty="0">
                <a:latin typeface="Open Sans" panose="020B0606030504020204" pitchFamily="34" charset="0"/>
                <a:ea typeface="Open Sans" panose="020B0606030504020204" pitchFamily="34" charset="0"/>
                <a:cs typeface="Open Sans" panose="020B0606030504020204" pitchFamily="34" charset="0"/>
              </a:rPr>
              <a:t>El modelo elegido, es un estilo deportivo, con un tamaño mayor al promedio, optando más por un estilo minimalista y cómodo para el usuario</a:t>
            </a:r>
            <a:endParaRPr lang="es-AR" sz="4400"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pic>
        <p:nvPicPr>
          <p:cNvPr id="1026" name="Picture 2">
            <a:extLst>
              <a:ext uri="{FF2B5EF4-FFF2-40B4-BE49-F238E27FC236}">
                <a16:creationId xmlns:a16="http://schemas.microsoft.com/office/drawing/2014/main" id="{713DDA53-C02E-BA55-5CA6-4FF11832AB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7600" y="2071607"/>
            <a:ext cx="5486400" cy="6974863"/>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022AB992-B991-3E66-9598-5717A3646F0B}"/>
              </a:ext>
            </a:extLst>
          </p:cNvPr>
          <p:cNvSpPr txBox="1"/>
          <p:nvPr/>
        </p:nvSpPr>
        <p:spPr>
          <a:xfrm>
            <a:off x="11277600" y="9229330"/>
            <a:ext cx="5638800" cy="954107"/>
          </a:xfrm>
          <a:prstGeom prst="rect">
            <a:avLst/>
          </a:prstGeom>
          <a:noFill/>
        </p:spPr>
        <p:txBody>
          <a:bodyPr wrap="square" rtlCol="0">
            <a:spAutoFit/>
          </a:bodyPr>
          <a:lstStyle/>
          <a:p>
            <a:pPr algn="ctr"/>
            <a:r>
              <a:rPr lang="es-AR" sz="2800" noProof="0" dirty="0">
                <a:latin typeface="Open Sans" panose="020B0606030504020204" pitchFamily="34" charset="0"/>
                <a:ea typeface="Open Sans" panose="020B0606030504020204" pitchFamily="34" charset="0"/>
                <a:cs typeface="Open Sans" panose="020B0606030504020204" pitchFamily="34" charset="0"/>
              </a:rPr>
              <a:t>PRIMERAS IMPRESIONES DE LOS LENTES PUESTOS</a:t>
            </a:r>
          </a:p>
        </p:txBody>
      </p:sp>
      <p:pic>
        <p:nvPicPr>
          <p:cNvPr id="3" name="Imagen 2">
            <a:extLst>
              <a:ext uri="{FF2B5EF4-FFF2-40B4-BE49-F238E27FC236}">
                <a16:creationId xmlns:a16="http://schemas.microsoft.com/office/drawing/2014/main" id="{42D0C6CB-225E-8EB3-18BE-88C48673576E}"/>
              </a:ext>
            </a:extLst>
          </p:cNvPr>
          <p:cNvPicPr>
            <a:picLocks noChangeAspect="1"/>
          </p:cNvPicPr>
          <p:nvPr/>
        </p:nvPicPr>
        <p:blipFill>
          <a:blip r:embed="rId3"/>
          <a:stretch>
            <a:fillRect/>
          </a:stretch>
        </p:blipFill>
        <p:spPr>
          <a:xfrm>
            <a:off x="609600" y="2071607"/>
            <a:ext cx="8808765" cy="5836565"/>
          </a:xfrm>
          <a:prstGeom prst="rect">
            <a:avLst/>
          </a:prstGeom>
        </p:spPr>
      </p:pic>
      <p:sp>
        <p:nvSpPr>
          <p:cNvPr id="7" name="CuadroTexto 6">
            <a:extLst>
              <a:ext uri="{FF2B5EF4-FFF2-40B4-BE49-F238E27FC236}">
                <a16:creationId xmlns:a16="http://schemas.microsoft.com/office/drawing/2014/main" id="{3F75DF24-C1FA-0AB5-40B7-00D583DAC32B}"/>
              </a:ext>
            </a:extLst>
          </p:cNvPr>
          <p:cNvSpPr txBox="1"/>
          <p:nvPr/>
        </p:nvSpPr>
        <p:spPr>
          <a:xfrm>
            <a:off x="660789" y="8225126"/>
            <a:ext cx="8808765" cy="954107"/>
          </a:xfrm>
          <a:prstGeom prst="rect">
            <a:avLst/>
          </a:prstGeom>
          <a:noFill/>
        </p:spPr>
        <p:txBody>
          <a:bodyPr wrap="square" rtlCol="0">
            <a:spAutoFit/>
          </a:bodyPr>
          <a:lstStyle/>
          <a:p>
            <a:pPr algn="ctr"/>
            <a:r>
              <a:rPr lang="es-AR" sz="2800" noProof="0" dirty="0">
                <a:latin typeface="Open Sans" panose="020B0606030504020204" pitchFamily="34" charset="0"/>
                <a:ea typeface="Open Sans" panose="020B0606030504020204" pitchFamily="34" charset="0"/>
                <a:cs typeface="Open Sans" panose="020B0606030504020204" pitchFamily="34" charset="0"/>
              </a:rPr>
              <a:t>IMPRESIÓN FINAL DE LOS LENTES CON TERMOCONTRAIBLES PUESTOS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58567" y="1261517"/>
            <a:ext cx="16619419" cy="7308825"/>
            <a:chOff x="0" y="0"/>
            <a:chExt cx="4377131" cy="1924958"/>
          </a:xfrm>
        </p:grpSpPr>
        <p:sp>
          <p:nvSpPr>
            <p:cNvPr id="3" name="Freeform 3"/>
            <p:cNvSpPr/>
            <p:nvPr/>
          </p:nvSpPr>
          <p:spPr>
            <a:xfrm>
              <a:off x="0" y="0"/>
              <a:ext cx="4377131" cy="1924958"/>
            </a:xfrm>
            <a:custGeom>
              <a:avLst/>
              <a:gdLst/>
              <a:ahLst/>
              <a:cxnLst/>
              <a:rect l="l" t="t" r="r" b="b"/>
              <a:pathLst>
                <a:path w="4377131" h="1924958">
                  <a:moveTo>
                    <a:pt x="0" y="0"/>
                  </a:moveTo>
                  <a:lnTo>
                    <a:pt x="4377131" y="0"/>
                  </a:lnTo>
                  <a:lnTo>
                    <a:pt x="4377131" y="1924958"/>
                  </a:lnTo>
                  <a:lnTo>
                    <a:pt x="0" y="1924958"/>
                  </a:lnTo>
                  <a:close/>
                </a:path>
              </a:pathLst>
            </a:custGeom>
            <a:solidFill>
              <a:srgbClr val="000000">
                <a:alpha val="0"/>
              </a:srgbClr>
            </a:solidFill>
            <a:ln w="133350" cap="sq">
              <a:solidFill>
                <a:srgbClr val="D7D72F"/>
              </a:solidFill>
              <a:prstDash val="solid"/>
              <a:miter/>
            </a:ln>
          </p:spPr>
          <p:txBody>
            <a:bodyPr/>
            <a:lstStyle/>
            <a:p>
              <a:endParaRPr lang="es-AR" noProof="0" dirty="0"/>
            </a:p>
          </p:txBody>
        </p:sp>
        <p:sp>
          <p:nvSpPr>
            <p:cNvPr id="4" name="TextBox 4"/>
            <p:cNvSpPr txBox="1"/>
            <p:nvPr/>
          </p:nvSpPr>
          <p:spPr>
            <a:xfrm>
              <a:off x="0" y="-38100"/>
              <a:ext cx="4377131" cy="1963058"/>
            </a:xfrm>
            <a:prstGeom prst="rect">
              <a:avLst/>
            </a:prstGeom>
          </p:spPr>
          <p:txBody>
            <a:bodyPr lIns="50800" tIns="50800" rIns="50800" bIns="50800" rtlCol="0" anchor="ctr"/>
            <a:lstStyle/>
            <a:p>
              <a:pPr algn="ctr">
                <a:lnSpc>
                  <a:spcPts val="2659"/>
                </a:lnSpc>
              </a:pPr>
              <a:endParaRPr lang="es-AR" noProof="0" dirty="0"/>
            </a:p>
          </p:txBody>
        </p:sp>
      </p:grpSp>
      <p:grpSp>
        <p:nvGrpSpPr>
          <p:cNvPr id="5" name="Group 5"/>
          <p:cNvGrpSpPr/>
          <p:nvPr/>
        </p:nvGrpSpPr>
        <p:grpSpPr>
          <a:xfrm>
            <a:off x="2971800" y="495300"/>
            <a:ext cx="15035243" cy="6828038"/>
            <a:chOff x="0" y="0"/>
            <a:chExt cx="3959899" cy="1798331"/>
          </a:xfrm>
        </p:grpSpPr>
        <p:sp>
          <p:nvSpPr>
            <p:cNvPr id="6" name="Freeform 6"/>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7" name="TextBox 7"/>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8" name="TextBox 8"/>
          <p:cNvSpPr txBox="1"/>
          <p:nvPr/>
        </p:nvSpPr>
        <p:spPr>
          <a:xfrm>
            <a:off x="4911741" y="2348975"/>
            <a:ext cx="11116842" cy="641201"/>
          </a:xfrm>
          <a:prstGeom prst="rect">
            <a:avLst/>
          </a:prstGeom>
        </p:spPr>
        <p:txBody>
          <a:bodyPr wrap="square" lIns="0" tIns="0" rIns="0" bIns="0" rtlCol="0" anchor="t">
            <a:spAutoFit/>
          </a:bodyPr>
          <a:lstStyle/>
          <a:p>
            <a:pPr algn="l">
              <a:lnSpc>
                <a:spcPts val="5039"/>
              </a:lnSpc>
              <a:spcBef>
                <a:spcPct val="0"/>
              </a:spcBef>
            </a:pPr>
            <a:r>
              <a:rPr lang="es-AR" sz="4499" spc="1331" noProof="0" dirty="0">
                <a:solidFill>
                  <a:srgbClr val="000000"/>
                </a:solidFill>
                <a:latin typeface="Montserrat"/>
                <a:ea typeface="Montserrat"/>
                <a:cs typeface="Montserrat"/>
                <a:sym typeface="Montserrat"/>
              </a:rPr>
              <a:t>¿PORQUE ESTE MODELO?</a:t>
            </a:r>
          </a:p>
        </p:txBody>
      </p:sp>
      <p:sp>
        <p:nvSpPr>
          <p:cNvPr id="9" name="TextBox 9"/>
          <p:cNvSpPr txBox="1"/>
          <p:nvPr/>
        </p:nvSpPr>
        <p:spPr>
          <a:xfrm>
            <a:off x="4633786" y="3286252"/>
            <a:ext cx="11394797" cy="2941959"/>
          </a:xfrm>
          <a:prstGeom prst="rect">
            <a:avLst/>
          </a:prstGeom>
        </p:spPr>
        <p:txBody>
          <a:bodyPr lIns="0" tIns="0" rIns="0" bIns="0" rtlCol="0" anchor="t">
            <a:spAutoFit/>
          </a:bodyPr>
          <a:lstStyle/>
          <a:p>
            <a:pPr algn="ctr">
              <a:lnSpc>
                <a:spcPct val="115000"/>
              </a:lnSpc>
              <a:spcAft>
                <a:spcPts val="800"/>
              </a:spcAft>
              <a:buNone/>
            </a:pPr>
            <a:r>
              <a:rPr lang="es-AR" sz="2800" kern="100" noProof="0" dirty="0">
                <a:effectLst/>
                <a:latin typeface="Open Sans" panose="020B0606030504020204" pitchFamily="34" charset="0"/>
                <a:ea typeface="Open Sans" panose="020B0606030504020204" pitchFamily="34" charset="0"/>
                <a:cs typeface="Open Sans" panose="020B0606030504020204" pitchFamily="34" charset="0"/>
              </a:rPr>
              <a:t>Elegimos este modelo, ya que al ser de estilo deportivo, es más cómodo para el usuario y su tamaño al ser mayor que el de unos lentes promedio, es más fácil para acomodar los componentes en el frente de los lentes. Fue una elección en común, ya que no solo son cómodos, sino que estéticamente son mejores que cualquier otro modelo.</a:t>
            </a:r>
            <a:endParaRPr lang="es-AR" sz="2499" noProof="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3762183"/>
            <a:ext cx="16230600" cy="2762634"/>
            <a:chOff x="0" y="0"/>
            <a:chExt cx="4274726" cy="727607"/>
          </a:xfrm>
        </p:grpSpPr>
        <p:sp>
          <p:nvSpPr>
            <p:cNvPr id="3" name="Freeform 3"/>
            <p:cNvSpPr/>
            <p:nvPr/>
          </p:nvSpPr>
          <p:spPr>
            <a:xfrm>
              <a:off x="0" y="0"/>
              <a:ext cx="4274726" cy="727607"/>
            </a:xfrm>
            <a:custGeom>
              <a:avLst/>
              <a:gdLst/>
              <a:ahLst/>
              <a:cxnLst/>
              <a:rect l="l" t="t" r="r" b="b"/>
              <a:pathLst>
                <a:path w="4274726" h="727607">
                  <a:moveTo>
                    <a:pt x="0" y="0"/>
                  </a:moveTo>
                  <a:lnTo>
                    <a:pt x="4274726" y="0"/>
                  </a:lnTo>
                  <a:lnTo>
                    <a:pt x="4274726" y="727607"/>
                  </a:lnTo>
                  <a:lnTo>
                    <a:pt x="0" y="727607"/>
                  </a:lnTo>
                  <a:close/>
                </a:path>
              </a:pathLst>
            </a:custGeom>
            <a:solidFill>
              <a:srgbClr val="D7D72F"/>
            </a:solidFill>
          </p:spPr>
          <p:txBody>
            <a:bodyPr/>
            <a:lstStyle/>
            <a:p>
              <a:endParaRPr lang="es-AR" noProof="0" dirty="0"/>
            </a:p>
          </p:txBody>
        </p:sp>
        <p:sp>
          <p:nvSpPr>
            <p:cNvPr id="4" name="TextBox 4"/>
            <p:cNvSpPr txBox="1"/>
            <p:nvPr/>
          </p:nvSpPr>
          <p:spPr>
            <a:xfrm>
              <a:off x="0" y="-38100"/>
              <a:ext cx="4274726" cy="765707"/>
            </a:xfrm>
            <a:prstGeom prst="rect">
              <a:avLst/>
            </a:prstGeom>
          </p:spPr>
          <p:txBody>
            <a:bodyPr lIns="50800" tIns="50800" rIns="50800" bIns="50800" rtlCol="0" anchor="ctr"/>
            <a:lstStyle/>
            <a:p>
              <a:pPr algn="ctr">
                <a:lnSpc>
                  <a:spcPts val="2659"/>
                </a:lnSpc>
              </a:pPr>
              <a:endParaRPr lang="es-AR" noProof="0" dirty="0"/>
            </a:p>
          </p:txBody>
        </p:sp>
      </p:grpSp>
      <p:sp>
        <p:nvSpPr>
          <p:cNvPr id="5" name="TextBox 5"/>
          <p:cNvSpPr txBox="1"/>
          <p:nvPr/>
        </p:nvSpPr>
        <p:spPr>
          <a:xfrm>
            <a:off x="3094166" y="4520565"/>
            <a:ext cx="12099668" cy="645794"/>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Semi-Bold"/>
                <a:ea typeface="Montserrat Semi-Bold"/>
                <a:cs typeface="Montserrat Semi-Bold"/>
                <a:sym typeface="Montserrat Semi-Bold"/>
              </a:rPr>
              <a:t>CAMBIOS A FUTURO</a:t>
            </a:r>
          </a:p>
        </p:txBody>
      </p:sp>
      <p:sp>
        <p:nvSpPr>
          <p:cNvPr id="6" name="TextBox 6"/>
          <p:cNvSpPr txBox="1"/>
          <p:nvPr/>
        </p:nvSpPr>
        <p:spPr>
          <a:xfrm>
            <a:off x="3094166" y="7474434"/>
            <a:ext cx="12099668" cy="645794"/>
          </a:xfrm>
          <a:prstGeom prst="rect">
            <a:avLst/>
          </a:prstGeom>
        </p:spPr>
        <p:txBody>
          <a:bodyPr lIns="0" tIns="0" rIns="0" bIns="0" rtlCol="0" anchor="t">
            <a:spAutoFit/>
          </a:bodyPr>
          <a:lstStyle/>
          <a:p>
            <a:pPr algn="ctr">
              <a:lnSpc>
                <a:spcPts val="5039"/>
              </a:lnSpc>
              <a:spcBef>
                <a:spcPct val="0"/>
              </a:spcBef>
            </a:pPr>
            <a:r>
              <a:rPr lang="es-AR" sz="4499" b="1" spc="1331" noProof="0" dirty="0">
                <a:solidFill>
                  <a:srgbClr val="000000"/>
                </a:solidFill>
                <a:latin typeface="Montserrat Semi-Bold"/>
                <a:ea typeface="Montserrat Semi-Bold"/>
                <a:cs typeface="Montserrat Semi-Bold"/>
                <a:sym typeface="Montserrat Semi-Bold"/>
              </a:rPr>
              <a:t>GRANATA, JOAQUIN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380427"/>
            <a:ext cx="5481177" cy="1477682"/>
            <a:chOff x="0" y="0"/>
            <a:chExt cx="1443602" cy="389184"/>
          </a:xfrm>
        </p:grpSpPr>
        <p:sp>
          <p:nvSpPr>
            <p:cNvPr id="6" name="Freeform 6"/>
            <p:cNvSpPr/>
            <p:nvPr/>
          </p:nvSpPr>
          <p:spPr>
            <a:xfrm>
              <a:off x="0" y="0"/>
              <a:ext cx="1443602" cy="389184"/>
            </a:xfrm>
            <a:custGeom>
              <a:avLst/>
              <a:gdLst/>
              <a:ahLst/>
              <a:cxnLst/>
              <a:rect l="l" t="t" r="r" b="b"/>
              <a:pathLst>
                <a:path w="1443602" h="389184">
                  <a:moveTo>
                    <a:pt x="0" y="0"/>
                  </a:moveTo>
                  <a:lnTo>
                    <a:pt x="1443602" y="0"/>
                  </a:lnTo>
                  <a:lnTo>
                    <a:pt x="1443602" y="389184"/>
                  </a:lnTo>
                  <a:lnTo>
                    <a:pt x="0" y="389184"/>
                  </a:lnTo>
                  <a:close/>
                </a:path>
              </a:pathLst>
            </a:custGeom>
            <a:solidFill>
              <a:srgbClr val="D7D72F"/>
            </a:solidFill>
          </p:spPr>
          <p:txBody>
            <a:bodyPr/>
            <a:lstStyle/>
            <a:p>
              <a:endParaRPr lang="es-AR" noProof="0" dirty="0"/>
            </a:p>
          </p:txBody>
        </p:sp>
        <p:sp>
          <p:nvSpPr>
            <p:cNvPr id="7" name="TextBox 7"/>
            <p:cNvSpPr txBox="1"/>
            <p:nvPr/>
          </p:nvSpPr>
          <p:spPr>
            <a:xfrm>
              <a:off x="0" y="-38100"/>
              <a:ext cx="1443602" cy="427284"/>
            </a:xfrm>
            <a:prstGeom prst="rect">
              <a:avLst/>
            </a:prstGeom>
          </p:spPr>
          <p:txBody>
            <a:bodyPr lIns="50800" tIns="50800" rIns="50800" bIns="50800" rtlCol="0" anchor="ctr"/>
            <a:lstStyle/>
            <a:p>
              <a:pPr algn="ctr">
                <a:lnSpc>
                  <a:spcPts val="2659"/>
                </a:lnSpc>
              </a:pPr>
              <a:endParaRPr lang="es-AR" noProof="0" dirty="0"/>
            </a:p>
          </p:txBody>
        </p:sp>
      </p:grpSp>
      <p:sp>
        <p:nvSpPr>
          <p:cNvPr id="8" name="TextBox 8"/>
          <p:cNvSpPr txBox="1"/>
          <p:nvPr/>
        </p:nvSpPr>
        <p:spPr>
          <a:xfrm>
            <a:off x="157168" y="574140"/>
            <a:ext cx="5481177" cy="1283969"/>
          </a:xfrm>
          <a:prstGeom prst="rect">
            <a:avLst/>
          </a:prstGeom>
        </p:spPr>
        <p:txBody>
          <a:bodyPr lIns="0" tIns="0" rIns="0" bIns="0" rtlCol="0" anchor="t">
            <a:spAutoFit/>
          </a:bodyPr>
          <a:lstStyle/>
          <a:p>
            <a:pPr algn="l">
              <a:lnSpc>
                <a:spcPts val="5039"/>
              </a:lnSpc>
              <a:spcBef>
                <a:spcPct val="0"/>
              </a:spcBef>
            </a:pPr>
            <a:r>
              <a:rPr lang="es-AR" sz="4499" b="1" spc="1331" noProof="0" dirty="0">
                <a:solidFill>
                  <a:srgbClr val="000000"/>
                </a:solidFill>
                <a:latin typeface="Montserrat"/>
                <a:ea typeface="Montserrat"/>
                <a:cs typeface="Montserrat"/>
                <a:sym typeface="Montserrat"/>
              </a:rPr>
              <a:t>MEJORAS A FUTURO</a:t>
            </a:r>
          </a:p>
        </p:txBody>
      </p:sp>
      <p:grpSp>
        <p:nvGrpSpPr>
          <p:cNvPr id="9" name="Group 9"/>
          <p:cNvGrpSpPr/>
          <p:nvPr/>
        </p:nvGrpSpPr>
        <p:grpSpPr>
          <a:xfrm>
            <a:off x="0" y="2195748"/>
            <a:ext cx="18288000" cy="8091252"/>
            <a:chOff x="0" y="0"/>
            <a:chExt cx="3959899" cy="1798331"/>
          </a:xfrm>
        </p:grpSpPr>
        <p:sp>
          <p:nvSpPr>
            <p:cNvPr id="10" name="Freeform 10"/>
            <p:cNvSpPr/>
            <p:nvPr/>
          </p:nvSpPr>
          <p:spPr>
            <a:xfrm>
              <a:off x="0" y="0"/>
              <a:ext cx="3959899" cy="1798331"/>
            </a:xfrm>
            <a:custGeom>
              <a:avLst/>
              <a:gdLst/>
              <a:ahLst/>
              <a:cxnLst/>
              <a:rect l="l" t="t" r="r" b="b"/>
              <a:pathLst>
                <a:path w="3959899" h="1798331">
                  <a:moveTo>
                    <a:pt x="0" y="0"/>
                  </a:moveTo>
                  <a:lnTo>
                    <a:pt x="3959899" y="0"/>
                  </a:lnTo>
                  <a:lnTo>
                    <a:pt x="3959899" y="1798331"/>
                  </a:lnTo>
                  <a:lnTo>
                    <a:pt x="0" y="1798331"/>
                  </a:lnTo>
                  <a:close/>
                </a:path>
              </a:pathLst>
            </a:custGeom>
            <a:solidFill>
              <a:srgbClr val="D7D72F"/>
            </a:solidFill>
          </p:spPr>
          <p:txBody>
            <a:bodyPr/>
            <a:lstStyle/>
            <a:p>
              <a:endParaRPr lang="es-AR" noProof="0" dirty="0"/>
            </a:p>
          </p:txBody>
        </p:sp>
        <p:sp>
          <p:nvSpPr>
            <p:cNvPr id="11" name="TextBox 11"/>
            <p:cNvSpPr txBox="1"/>
            <p:nvPr/>
          </p:nvSpPr>
          <p:spPr>
            <a:xfrm>
              <a:off x="0" y="-38100"/>
              <a:ext cx="3959899" cy="1836431"/>
            </a:xfrm>
            <a:prstGeom prst="rect">
              <a:avLst/>
            </a:prstGeom>
          </p:spPr>
          <p:txBody>
            <a:bodyPr lIns="50800" tIns="50800" rIns="50800" bIns="50800" rtlCol="0" anchor="ctr"/>
            <a:lstStyle/>
            <a:p>
              <a:pPr algn="ctr">
                <a:lnSpc>
                  <a:spcPts val="2659"/>
                </a:lnSpc>
              </a:pPr>
              <a:endParaRPr lang="es-AR" noProof="0" dirty="0"/>
            </a:p>
          </p:txBody>
        </p:sp>
      </p:grpSp>
      <p:sp>
        <p:nvSpPr>
          <p:cNvPr id="12" name="TextBox 12"/>
          <p:cNvSpPr txBox="1"/>
          <p:nvPr/>
        </p:nvSpPr>
        <p:spPr>
          <a:xfrm>
            <a:off x="152400" y="2472313"/>
            <a:ext cx="4428893" cy="579629"/>
          </a:xfrm>
          <a:prstGeom prst="rect">
            <a:avLst/>
          </a:prstGeom>
        </p:spPr>
        <p:txBody>
          <a:bodyPr lIns="0" tIns="0" rIns="0" bIns="0" rtlCol="0" anchor="t">
            <a:spAutoFit/>
          </a:bodyPr>
          <a:lstStyle/>
          <a:p>
            <a:pPr algn="l">
              <a:lnSpc>
                <a:spcPts val="5095"/>
              </a:lnSpc>
            </a:pPr>
            <a:r>
              <a:rPr lang="es-AR" sz="2799" b="1" u="sng" spc="257" noProof="0" dirty="0">
                <a:solidFill>
                  <a:srgbClr val="000000"/>
                </a:solidFill>
                <a:latin typeface="Open Sans Bold"/>
                <a:ea typeface="Open Sans Bold"/>
                <a:cs typeface="Open Sans Bold"/>
                <a:sym typeface="Open Sans Bold"/>
              </a:rPr>
              <a:t>Darle impacto global</a:t>
            </a:r>
          </a:p>
        </p:txBody>
      </p:sp>
      <p:sp>
        <p:nvSpPr>
          <p:cNvPr id="13" name="TextBox 13"/>
          <p:cNvSpPr txBox="1"/>
          <p:nvPr/>
        </p:nvSpPr>
        <p:spPr>
          <a:xfrm>
            <a:off x="6307155" y="2468769"/>
            <a:ext cx="5276385" cy="583173"/>
          </a:xfrm>
          <a:prstGeom prst="rect">
            <a:avLst/>
          </a:prstGeom>
        </p:spPr>
        <p:txBody>
          <a:bodyPr wrap="square" lIns="0" tIns="0" rIns="0" bIns="0" rtlCol="0" anchor="t">
            <a:spAutoFit/>
          </a:bodyPr>
          <a:lstStyle/>
          <a:p>
            <a:pPr algn="l">
              <a:lnSpc>
                <a:spcPts val="5095"/>
              </a:lnSpc>
            </a:pPr>
            <a:r>
              <a:rPr lang="es-AR" sz="2799" b="1" u="sng" spc="257" noProof="0" dirty="0">
                <a:solidFill>
                  <a:srgbClr val="000000"/>
                </a:solidFill>
                <a:latin typeface="Open Sans Bold"/>
                <a:ea typeface="Open Sans Bold"/>
                <a:cs typeface="Open Sans Bold"/>
                <a:sym typeface="Open Sans Bold"/>
              </a:rPr>
              <a:t>Independizar el proyecto</a:t>
            </a:r>
          </a:p>
        </p:txBody>
      </p:sp>
      <p:sp>
        <p:nvSpPr>
          <p:cNvPr id="14" name="TextBox 14"/>
          <p:cNvSpPr txBox="1"/>
          <p:nvPr/>
        </p:nvSpPr>
        <p:spPr>
          <a:xfrm>
            <a:off x="305113" y="3386135"/>
            <a:ext cx="4385955" cy="4482124"/>
          </a:xfrm>
          <a:prstGeom prst="rect">
            <a:avLst/>
          </a:prstGeom>
        </p:spPr>
        <p:txBody>
          <a:bodyPr wrap="square" lIns="0" tIns="0" rIns="0" bIns="0" rtlCol="0" anchor="t">
            <a:spAutoFit/>
          </a:bodyPr>
          <a:lstStyle/>
          <a:p>
            <a:pPr algn="l">
              <a:lnSpc>
                <a:spcPts val="3919"/>
              </a:lnSpc>
            </a:pPr>
            <a:r>
              <a:rPr lang="es-AR" sz="3200" noProof="0" dirty="0">
                <a:solidFill>
                  <a:srgbClr val="000000"/>
                </a:solidFill>
                <a:latin typeface="Open Sans"/>
                <a:ea typeface="Open Sans"/>
                <a:cs typeface="Open Sans"/>
                <a:sym typeface="Open Sans"/>
              </a:rPr>
              <a:t>La versión actual solo se encuentra disponible para personas sin visión. Adaptaremos los lentes y reubicaremos los componentes para permitir a cualquiera usarlos.</a:t>
            </a:r>
          </a:p>
        </p:txBody>
      </p:sp>
      <p:sp>
        <p:nvSpPr>
          <p:cNvPr id="15" name="TextBox 15"/>
          <p:cNvSpPr txBox="1"/>
          <p:nvPr/>
        </p:nvSpPr>
        <p:spPr>
          <a:xfrm>
            <a:off x="6505806" y="3321419"/>
            <a:ext cx="4879082" cy="3981988"/>
          </a:xfrm>
          <a:prstGeom prst="rect">
            <a:avLst/>
          </a:prstGeom>
        </p:spPr>
        <p:txBody>
          <a:bodyPr lIns="0" tIns="0" rIns="0" bIns="0" rtlCol="0" anchor="t">
            <a:spAutoFit/>
          </a:bodyPr>
          <a:lstStyle/>
          <a:p>
            <a:pPr algn="l">
              <a:lnSpc>
                <a:spcPts val="3919"/>
              </a:lnSpc>
            </a:pPr>
            <a:r>
              <a:rPr lang="es-AR" sz="3200" noProof="0" dirty="0">
                <a:solidFill>
                  <a:srgbClr val="000000"/>
                </a:solidFill>
                <a:latin typeface="Open Sans"/>
                <a:ea typeface="Open Sans"/>
                <a:cs typeface="Open Sans"/>
                <a:sym typeface="Open Sans"/>
              </a:rPr>
              <a:t>La primera idea consistía de un servidor, haciendo el proyecto al proyecto mas independiente. Al probarlo, encontramos problemas con el delay. Encontraremos una solución y la añadiremos.</a:t>
            </a:r>
          </a:p>
        </p:txBody>
      </p:sp>
      <p:sp>
        <p:nvSpPr>
          <p:cNvPr id="16" name="TextBox 16"/>
          <p:cNvSpPr txBox="1"/>
          <p:nvPr/>
        </p:nvSpPr>
        <p:spPr>
          <a:xfrm>
            <a:off x="13199626" y="2366264"/>
            <a:ext cx="3862311" cy="579629"/>
          </a:xfrm>
          <a:prstGeom prst="rect">
            <a:avLst/>
          </a:prstGeom>
        </p:spPr>
        <p:txBody>
          <a:bodyPr lIns="0" tIns="0" rIns="0" bIns="0" rtlCol="0" anchor="t">
            <a:spAutoFit/>
          </a:bodyPr>
          <a:lstStyle/>
          <a:p>
            <a:pPr algn="l">
              <a:lnSpc>
                <a:spcPts val="5095"/>
              </a:lnSpc>
            </a:pPr>
            <a:r>
              <a:rPr lang="es-AR" sz="2799" b="1" u="sng" spc="257" noProof="0" dirty="0">
                <a:solidFill>
                  <a:srgbClr val="000000"/>
                </a:solidFill>
                <a:latin typeface="Open Sans Bold"/>
                <a:ea typeface="Open Sans Bold"/>
                <a:cs typeface="Open Sans Bold"/>
                <a:sym typeface="Open Sans Bold"/>
              </a:rPr>
              <a:t>Lectura de texto</a:t>
            </a:r>
          </a:p>
        </p:txBody>
      </p:sp>
      <p:sp>
        <p:nvSpPr>
          <p:cNvPr id="17" name="TextBox 17"/>
          <p:cNvSpPr txBox="1"/>
          <p:nvPr/>
        </p:nvSpPr>
        <p:spPr>
          <a:xfrm>
            <a:off x="13199626" y="3321419"/>
            <a:ext cx="5012174" cy="4982261"/>
          </a:xfrm>
          <a:prstGeom prst="rect">
            <a:avLst/>
          </a:prstGeom>
        </p:spPr>
        <p:txBody>
          <a:bodyPr wrap="square" lIns="0" tIns="0" rIns="0" bIns="0" rtlCol="0" anchor="t">
            <a:spAutoFit/>
          </a:bodyPr>
          <a:lstStyle/>
          <a:p>
            <a:pPr algn="l">
              <a:lnSpc>
                <a:spcPts val="3919"/>
              </a:lnSpc>
            </a:pPr>
            <a:r>
              <a:rPr lang="es-AR" sz="3200" noProof="0" dirty="0">
                <a:solidFill>
                  <a:srgbClr val="000000"/>
                </a:solidFill>
                <a:latin typeface="Open Sans"/>
                <a:ea typeface="Open Sans"/>
                <a:cs typeface="Open Sans"/>
                <a:sym typeface="Open Sans"/>
              </a:rPr>
              <a:t>Una de los comentarios que recibimos en la ASAC fue sobre una aplicación capaz de leer texto. Queríamos añadirlo, pero debido al tiempo restante y nuestras prioridades siendo otras, tuvimos que dejar la idea para futuras actualizaciones.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D7D72F"/>
        </a:solidFill>
        <a:effectLst/>
      </p:bgPr>
    </p:bg>
    <p:spTree>
      <p:nvGrpSpPr>
        <p:cNvPr id="1" name=""/>
        <p:cNvGrpSpPr/>
        <p:nvPr/>
      </p:nvGrpSpPr>
      <p:grpSpPr>
        <a:xfrm>
          <a:off x="0" y="0"/>
          <a:ext cx="0" cy="0"/>
          <a:chOff x="0" y="0"/>
          <a:chExt cx="0" cy="0"/>
        </a:xfrm>
      </p:grpSpPr>
      <p:sp>
        <p:nvSpPr>
          <p:cNvPr id="2" name="TextBox 2"/>
          <p:cNvSpPr txBox="1"/>
          <p:nvPr/>
        </p:nvSpPr>
        <p:spPr>
          <a:xfrm>
            <a:off x="4419316" y="4497706"/>
            <a:ext cx="9449368" cy="645794"/>
          </a:xfrm>
          <a:prstGeom prst="rect">
            <a:avLst/>
          </a:prstGeom>
        </p:spPr>
        <p:txBody>
          <a:bodyPr lIns="0" tIns="0" rIns="0" bIns="0" rtlCol="0" anchor="t">
            <a:spAutoFit/>
          </a:bodyPr>
          <a:lstStyle/>
          <a:p>
            <a:pPr algn="ctr">
              <a:lnSpc>
                <a:spcPts val="5039"/>
              </a:lnSpc>
              <a:spcBef>
                <a:spcPct val="0"/>
              </a:spcBef>
            </a:pPr>
            <a:r>
              <a:rPr lang="es-AR" sz="4499" spc="1331" noProof="0" dirty="0">
                <a:solidFill>
                  <a:srgbClr val="000000"/>
                </a:solidFill>
                <a:latin typeface="Montserrat"/>
                <a:ea typeface="Montserrat"/>
                <a:cs typeface="Montserrat"/>
                <a:sym typeface="Montserrat"/>
              </a:rPr>
              <a:t>MUCHAS GRACIAS</a:t>
            </a:r>
          </a:p>
        </p:txBody>
      </p:sp>
      <p:sp>
        <p:nvSpPr>
          <p:cNvPr id="3" name="TextBox 3"/>
          <p:cNvSpPr txBox="1"/>
          <p:nvPr/>
        </p:nvSpPr>
        <p:spPr>
          <a:xfrm>
            <a:off x="6899616" y="7200900"/>
            <a:ext cx="4488766" cy="539277"/>
          </a:xfrm>
          <a:prstGeom prst="rect">
            <a:avLst/>
          </a:prstGeom>
        </p:spPr>
        <p:txBody>
          <a:bodyPr wrap="square" lIns="0" tIns="0" rIns="0" bIns="0" rtlCol="0" anchor="t">
            <a:spAutoFit/>
          </a:bodyPr>
          <a:lstStyle/>
          <a:p>
            <a:pPr algn="ctr">
              <a:lnSpc>
                <a:spcPts val="4401"/>
              </a:lnSpc>
            </a:pPr>
            <a:r>
              <a:rPr lang="es-AR" sz="3143" u="sng" spc="540" noProof="0" dirty="0">
                <a:solidFill>
                  <a:srgbClr val="000000"/>
                </a:solidFill>
                <a:latin typeface="Montserrat"/>
                <a:ea typeface="Montserrat"/>
                <a:cs typeface="Montserrat"/>
                <a:sym typeface="Montserrat"/>
              </a:rPr>
              <a:t>Trabajo FINAL </a:t>
            </a:r>
          </a:p>
        </p:txBody>
      </p:sp>
      <p:sp>
        <p:nvSpPr>
          <p:cNvPr id="4" name="TextBox 4"/>
          <p:cNvSpPr txBox="1"/>
          <p:nvPr/>
        </p:nvSpPr>
        <p:spPr>
          <a:xfrm>
            <a:off x="2823060" y="8267700"/>
            <a:ext cx="12641879" cy="967105"/>
          </a:xfrm>
          <a:prstGeom prst="rect">
            <a:avLst/>
          </a:prstGeom>
        </p:spPr>
        <p:txBody>
          <a:bodyPr lIns="0" tIns="0" rIns="0" bIns="0" rtlCol="0" anchor="t">
            <a:spAutoFit/>
          </a:bodyPr>
          <a:lstStyle/>
          <a:p>
            <a:pPr algn="ctr">
              <a:lnSpc>
                <a:spcPts val="3919"/>
              </a:lnSpc>
            </a:pPr>
            <a:r>
              <a:rPr lang="es-AR" sz="2799" b="1" spc="481" noProof="0" dirty="0">
                <a:solidFill>
                  <a:srgbClr val="000000"/>
                </a:solidFill>
                <a:latin typeface="Montserrat Semi-Bold"/>
                <a:ea typeface="Montserrat Semi-Bold"/>
                <a:cs typeface="Montserrat Semi-Bold"/>
                <a:sym typeface="Montserrat Semi-Bold"/>
              </a:rPr>
              <a:t>GRANATA, Joaquin - RADAKOFF, Milovan - PAZ, Bautista - CARAM, Matías - RAMIREZ, Selene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529</TotalTime>
  <Words>1201</Words>
  <Application>Microsoft Office PowerPoint</Application>
  <PresentationFormat>Personalizado</PresentationFormat>
  <Paragraphs>108</Paragraphs>
  <Slides>25</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25</vt:i4>
      </vt:variant>
    </vt:vector>
  </HeadingPairs>
  <TitlesOfParts>
    <vt:vector size="33" baseType="lpstr">
      <vt:lpstr>Open Sans</vt:lpstr>
      <vt:lpstr>Open Sans Bold</vt:lpstr>
      <vt:lpstr>Montserrat</vt:lpstr>
      <vt:lpstr>Montserrat Semi-Bold</vt:lpstr>
      <vt:lpstr>Montserrat Bold</vt:lpstr>
      <vt:lpstr>Calibri</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Propuesta de proyecto Minimalista Verde</dc:title>
  <dc:creator>Joaquin</dc:creator>
  <cp:lastModifiedBy>granatajoaquin@gmail.com</cp:lastModifiedBy>
  <cp:revision>15</cp:revision>
  <dcterms:created xsi:type="dcterms:W3CDTF">2006-08-16T00:00:00Z</dcterms:created>
  <dcterms:modified xsi:type="dcterms:W3CDTF">2025-11-26T14:26:15Z</dcterms:modified>
  <dc:identifier>DAG44fDtKmw</dc:identifier>
</cp:coreProperties>
</file>